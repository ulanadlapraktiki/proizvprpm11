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62" r:id="rId3"/>
    <p:sldId id="263" r:id="rId4"/>
    <p:sldId id="257" r:id="rId5"/>
    <p:sldId id="258" r:id="rId6"/>
    <p:sldId id="259" r:id="rId7"/>
    <p:sldId id="260" r:id="rId8"/>
    <p:sldId id="261" r:id="rId9"/>
    <p:sldId id="268" r:id="rId10"/>
    <p:sldId id="266" r:id="rId11"/>
    <p:sldId id="269" r:id="rId12"/>
    <p:sldId id="267" r:id="rId13"/>
    <p:sldId id="26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94660"/>
  </p:normalViewPr>
  <p:slideViewPr>
    <p:cSldViewPr snapToGrid="0">
      <p:cViewPr>
        <p:scale>
          <a:sx n="40" d="100"/>
          <a:sy n="40" d="100"/>
        </p:scale>
        <p:origin x="355" y="9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8EE06E-6907-46DC-B298-B4B1011CDA1B}" type="datetimeFigureOut">
              <a:rPr lang="ru-RU" smtClean="0"/>
              <a:t>25.05.2026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FBC5A2-0286-485C-BC63-46CDB546D6D9}" type="slidenum">
              <a:rPr lang="ru-RU" smtClean="0"/>
              <a:t>‹#›</a:t>
            </a:fld>
            <a:endParaRPr lang="ru-RU"/>
          </a:p>
        </p:txBody>
      </p:sp>
    </p:spTree>
    <p:extLst>
      <p:ext uri="{BB962C8B-B14F-4D97-AF65-F5344CB8AC3E}">
        <p14:creationId xmlns:p14="http://schemas.microsoft.com/office/powerpoint/2010/main" val="3137686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85FBC5A2-0286-485C-BC63-46CDB546D6D9}" type="slidenum">
              <a:rPr lang="ru-RU" smtClean="0"/>
              <a:t>8</a:t>
            </a:fld>
            <a:endParaRPr lang="ru-RU"/>
          </a:p>
        </p:txBody>
      </p:sp>
    </p:spTree>
    <p:extLst>
      <p:ext uri="{BB962C8B-B14F-4D97-AF65-F5344CB8AC3E}">
        <p14:creationId xmlns:p14="http://schemas.microsoft.com/office/powerpoint/2010/main" val="1022782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89A5D-4C56-401F-6362-288B2C09EFA7}"/>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97FA1F2C-50EA-4E48-DA18-BF29ECBA03B0}"/>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8206E94A-1791-0D40-3ADA-5EA3EF8B8D95}"/>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C046513F-1B90-22D3-8B6F-647138E6F98A}"/>
              </a:ext>
            </a:extLst>
          </p:cNvPr>
          <p:cNvSpPr>
            <a:spLocks noGrp="1"/>
          </p:cNvSpPr>
          <p:nvPr>
            <p:ph type="sldNum" sz="quarter" idx="5"/>
          </p:nvPr>
        </p:nvSpPr>
        <p:spPr/>
        <p:txBody>
          <a:bodyPr/>
          <a:lstStyle/>
          <a:p>
            <a:fld id="{85FBC5A2-0286-485C-BC63-46CDB546D6D9}" type="slidenum">
              <a:rPr lang="ru-RU" smtClean="0"/>
              <a:t>9</a:t>
            </a:fld>
            <a:endParaRPr lang="ru-RU"/>
          </a:p>
        </p:txBody>
      </p:sp>
    </p:spTree>
    <p:extLst>
      <p:ext uri="{BB962C8B-B14F-4D97-AF65-F5344CB8AC3E}">
        <p14:creationId xmlns:p14="http://schemas.microsoft.com/office/powerpoint/2010/main" val="39433121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28056-DD95-E8E3-DC21-1C3CE2AEC8D9}"/>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8FF1698E-7F46-E95B-52F9-B4E9BE0520C0}"/>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66AF2B30-191A-1797-60C7-FB93778E19E3}"/>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2167BCD0-8E2C-D321-0199-C4FD946A7AD4}"/>
              </a:ext>
            </a:extLst>
          </p:cNvPr>
          <p:cNvSpPr>
            <a:spLocks noGrp="1"/>
          </p:cNvSpPr>
          <p:nvPr>
            <p:ph type="sldNum" sz="quarter" idx="5"/>
          </p:nvPr>
        </p:nvSpPr>
        <p:spPr/>
        <p:txBody>
          <a:bodyPr/>
          <a:lstStyle/>
          <a:p>
            <a:fld id="{85FBC5A2-0286-485C-BC63-46CDB546D6D9}" type="slidenum">
              <a:rPr lang="ru-RU" smtClean="0"/>
              <a:t>10</a:t>
            </a:fld>
            <a:endParaRPr lang="ru-RU"/>
          </a:p>
        </p:txBody>
      </p:sp>
    </p:spTree>
    <p:extLst>
      <p:ext uri="{BB962C8B-B14F-4D97-AF65-F5344CB8AC3E}">
        <p14:creationId xmlns:p14="http://schemas.microsoft.com/office/powerpoint/2010/main" val="2171221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DC020-3773-9072-1522-75B9606CCEB1}"/>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D5F09608-648B-4593-F38C-DF1FC61DB31C}"/>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7564AAF0-5150-FCAF-A4B2-B1A41E9692DF}"/>
              </a:ext>
            </a:extLst>
          </p:cNvPr>
          <p:cNvSpPr>
            <a:spLocks noGrp="1"/>
          </p:cNvSpPr>
          <p:nvPr>
            <p:ph type="body" idx="1"/>
          </p:nvPr>
        </p:nvSpPr>
        <p:spPr/>
        <p:txBody>
          <a:bodyPr/>
          <a:lstStyle/>
          <a:p>
            <a:endParaRPr lang="ru-RU" dirty="0"/>
          </a:p>
        </p:txBody>
      </p:sp>
      <p:sp>
        <p:nvSpPr>
          <p:cNvPr id="4" name="Номер слайда 3">
            <a:extLst>
              <a:ext uri="{FF2B5EF4-FFF2-40B4-BE49-F238E27FC236}">
                <a16:creationId xmlns:a16="http://schemas.microsoft.com/office/drawing/2014/main" id="{DE1EF2D3-4ACC-7257-3F1B-E64765634F56}"/>
              </a:ext>
            </a:extLst>
          </p:cNvPr>
          <p:cNvSpPr>
            <a:spLocks noGrp="1"/>
          </p:cNvSpPr>
          <p:nvPr>
            <p:ph type="sldNum" sz="quarter" idx="5"/>
          </p:nvPr>
        </p:nvSpPr>
        <p:spPr/>
        <p:txBody>
          <a:bodyPr/>
          <a:lstStyle/>
          <a:p>
            <a:fld id="{85FBC5A2-0286-485C-BC63-46CDB546D6D9}" type="slidenum">
              <a:rPr lang="ru-RU" smtClean="0"/>
              <a:t>11</a:t>
            </a:fld>
            <a:endParaRPr lang="ru-RU"/>
          </a:p>
        </p:txBody>
      </p:sp>
    </p:spTree>
    <p:extLst>
      <p:ext uri="{BB962C8B-B14F-4D97-AF65-F5344CB8AC3E}">
        <p14:creationId xmlns:p14="http://schemas.microsoft.com/office/powerpoint/2010/main" val="1233253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ru-RU"/>
              <a:t>Образец заголовка</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5FC06136-4108-482B-AFFF-106B86E39634}" type="datetimeFigureOut">
              <a:rPr lang="ru-RU" smtClean="0"/>
              <a:t>25.05.2026</a:t>
            </a:fld>
            <a:endParaRPr lang="ru-RU"/>
          </a:p>
        </p:txBody>
      </p:sp>
      <p:sp>
        <p:nvSpPr>
          <p:cNvPr id="5" name="Footer Placeholder 4"/>
          <p:cNvSpPr>
            <a:spLocks noGrp="1"/>
          </p:cNvSpPr>
          <p:nvPr>
            <p:ph type="ftr" sz="quarter" idx="11"/>
          </p:nvPr>
        </p:nvSpPr>
        <p:spPr/>
        <p:txBody>
          <a:bodyPr/>
          <a:lstStyle/>
          <a:p>
            <a:endParaRPr lang="ru-RU"/>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8D957CA-E736-4F4F-8CB7-7A364DB533A0}" type="slidenum">
              <a:rPr lang="ru-RU" smtClean="0"/>
              <a:t>‹#›</a:t>
            </a:fld>
            <a:endParaRPr lang="ru-RU"/>
          </a:p>
        </p:txBody>
      </p:sp>
    </p:spTree>
    <p:extLst>
      <p:ext uri="{BB962C8B-B14F-4D97-AF65-F5344CB8AC3E}">
        <p14:creationId xmlns:p14="http://schemas.microsoft.com/office/powerpoint/2010/main" val="1032718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ru-RU"/>
              <a:t>Образец заголовка</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FC06136-4108-482B-AFFF-106B86E39634}" type="datetimeFigureOut">
              <a:rPr lang="ru-RU" smtClean="0"/>
              <a:t>25.05.2026</a:t>
            </a:fld>
            <a:endParaRPr lang="ru-RU"/>
          </a:p>
        </p:txBody>
      </p:sp>
      <p:sp>
        <p:nvSpPr>
          <p:cNvPr id="5" name="Footer Placeholder 4"/>
          <p:cNvSpPr>
            <a:spLocks noGrp="1"/>
          </p:cNvSpPr>
          <p:nvPr>
            <p:ph type="ftr" sz="quarter" idx="11"/>
          </p:nvPr>
        </p:nvSpPr>
        <p:spPr/>
        <p:txBody>
          <a:bodyPr/>
          <a:lstStyle/>
          <a:p>
            <a:endParaRPr lang="ru-R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8D957CA-E736-4F4F-8CB7-7A364DB533A0}" type="slidenum">
              <a:rPr lang="ru-RU" smtClean="0"/>
              <a:t>‹#›</a:t>
            </a:fld>
            <a:endParaRPr lang="ru-RU"/>
          </a:p>
        </p:txBody>
      </p:sp>
    </p:spTree>
    <p:extLst>
      <p:ext uri="{BB962C8B-B14F-4D97-AF65-F5344CB8AC3E}">
        <p14:creationId xmlns:p14="http://schemas.microsoft.com/office/powerpoint/2010/main" val="2566633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5FC06136-4108-482B-AFFF-106B86E39634}" type="datetimeFigureOut">
              <a:rPr lang="ru-RU" smtClean="0"/>
              <a:t>25.05.2026</a:t>
            </a:fld>
            <a:endParaRPr lang="ru-RU"/>
          </a:p>
        </p:txBody>
      </p:sp>
      <p:sp>
        <p:nvSpPr>
          <p:cNvPr id="5" name="Footer Placeholder 4"/>
          <p:cNvSpPr>
            <a:spLocks noGrp="1"/>
          </p:cNvSpPr>
          <p:nvPr>
            <p:ph type="ftr" sz="quarter" idx="11"/>
          </p:nvPr>
        </p:nvSpPr>
        <p:spPr/>
        <p:txBody>
          <a:bodyPr/>
          <a:lstStyle/>
          <a:p>
            <a:endParaRPr lang="ru-RU"/>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8D957CA-E736-4F4F-8CB7-7A364DB533A0}" type="slidenum">
              <a:rPr lang="ru-RU" smtClean="0"/>
              <a:t>‹#›</a:t>
            </a:fld>
            <a:endParaRPr lang="ru-RU"/>
          </a:p>
        </p:txBody>
      </p:sp>
    </p:spTree>
    <p:extLst>
      <p:ext uri="{BB962C8B-B14F-4D97-AF65-F5344CB8AC3E}">
        <p14:creationId xmlns:p14="http://schemas.microsoft.com/office/powerpoint/2010/main" val="3885743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5FC06136-4108-482B-AFFF-106B86E39634}" type="datetimeFigureOut">
              <a:rPr lang="ru-RU" smtClean="0"/>
              <a:t>25.05.2026</a:t>
            </a:fld>
            <a:endParaRPr lang="ru-RU"/>
          </a:p>
        </p:txBody>
      </p:sp>
      <p:sp>
        <p:nvSpPr>
          <p:cNvPr id="6" name="Footer Placeholder 5"/>
          <p:cNvSpPr>
            <a:spLocks noGrp="1"/>
          </p:cNvSpPr>
          <p:nvPr>
            <p:ph type="ftr" sz="quarter" idx="11"/>
          </p:nvPr>
        </p:nvSpPr>
        <p:spPr/>
        <p:txBody>
          <a:bodyPr/>
          <a:lstStyle/>
          <a:p>
            <a:endParaRPr lang="ru-RU"/>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8D957CA-E736-4F4F-8CB7-7A364DB533A0}" type="slidenum">
              <a:rPr lang="ru-RU" smtClean="0"/>
              <a:t>‹#›</a:t>
            </a:fld>
            <a:endParaRPr lang="ru-RU"/>
          </a:p>
        </p:txBody>
      </p:sp>
    </p:spTree>
    <p:extLst>
      <p:ext uri="{BB962C8B-B14F-4D97-AF65-F5344CB8AC3E}">
        <p14:creationId xmlns:p14="http://schemas.microsoft.com/office/powerpoint/2010/main" val="10435412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a:t>Образец заголовка</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5FC06136-4108-482B-AFFF-106B86E39634}" type="datetimeFigureOut">
              <a:rPr lang="ru-RU" smtClean="0"/>
              <a:t>25.05.2026</a:t>
            </a:fld>
            <a:endParaRPr lang="ru-RU"/>
          </a:p>
        </p:txBody>
      </p:sp>
      <p:sp>
        <p:nvSpPr>
          <p:cNvPr id="8" name="Footer Placeholder 7"/>
          <p:cNvSpPr>
            <a:spLocks noGrp="1"/>
          </p:cNvSpPr>
          <p:nvPr>
            <p:ph type="ftr" sz="quarter" idx="11"/>
          </p:nvPr>
        </p:nvSpPr>
        <p:spPr/>
        <p:txBody>
          <a:bodyPr/>
          <a:lstStyle/>
          <a:p>
            <a:endParaRPr lang="ru-RU"/>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8D957CA-E736-4F4F-8CB7-7A364DB533A0}" type="slidenum">
              <a:rPr lang="ru-RU" smtClean="0"/>
              <a:t>‹#›</a:t>
            </a:fld>
            <a:endParaRPr lang="ru-RU"/>
          </a:p>
        </p:txBody>
      </p:sp>
    </p:spTree>
    <p:extLst>
      <p:ext uri="{BB962C8B-B14F-4D97-AF65-F5344CB8AC3E}">
        <p14:creationId xmlns:p14="http://schemas.microsoft.com/office/powerpoint/2010/main" val="2244559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5FC06136-4108-482B-AFFF-106B86E39634}" type="datetimeFigureOut">
              <a:rPr lang="ru-RU" smtClean="0"/>
              <a:t>25.05.2026</a:t>
            </a:fld>
            <a:endParaRPr lang="ru-RU"/>
          </a:p>
        </p:txBody>
      </p:sp>
      <p:sp>
        <p:nvSpPr>
          <p:cNvPr id="4" name="Footer Placeholder 3"/>
          <p:cNvSpPr>
            <a:spLocks noGrp="1"/>
          </p:cNvSpPr>
          <p:nvPr>
            <p:ph type="ftr" sz="quarter" idx="11"/>
          </p:nvPr>
        </p:nvSpPr>
        <p:spPr/>
        <p:txBody>
          <a:bodyPr/>
          <a:lstStyle/>
          <a:p>
            <a:endParaRPr lang="ru-RU"/>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8D957CA-E736-4F4F-8CB7-7A364DB533A0}" type="slidenum">
              <a:rPr lang="ru-RU" smtClean="0"/>
              <a:t>‹#›</a:t>
            </a:fld>
            <a:endParaRPr lang="ru-RU"/>
          </a:p>
        </p:txBody>
      </p:sp>
    </p:spTree>
    <p:extLst>
      <p:ext uri="{BB962C8B-B14F-4D97-AF65-F5344CB8AC3E}">
        <p14:creationId xmlns:p14="http://schemas.microsoft.com/office/powerpoint/2010/main" val="2691570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C06136-4108-482B-AFFF-106B86E39634}" type="datetimeFigureOut">
              <a:rPr lang="ru-RU" smtClean="0"/>
              <a:t>25.05.2026</a:t>
            </a:fld>
            <a:endParaRPr lang="ru-RU"/>
          </a:p>
        </p:txBody>
      </p:sp>
      <p:sp>
        <p:nvSpPr>
          <p:cNvPr id="3" name="Footer Placeholder 2"/>
          <p:cNvSpPr>
            <a:spLocks noGrp="1"/>
          </p:cNvSpPr>
          <p:nvPr>
            <p:ph type="ftr" sz="quarter" idx="11"/>
          </p:nvPr>
        </p:nvSpPr>
        <p:spPr/>
        <p:txBody>
          <a:bodyPr/>
          <a:lstStyle/>
          <a:p>
            <a:endParaRPr lang="ru-RU"/>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8D957CA-E736-4F4F-8CB7-7A364DB533A0}" type="slidenum">
              <a:rPr lang="ru-RU" smtClean="0"/>
              <a:t>‹#›</a:t>
            </a:fld>
            <a:endParaRPr lang="ru-RU"/>
          </a:p>
        </p:txBody>
      </p:sp>
    </p:spTree>
    <p:extLst>
      <p:ext uri="{BB962C8B-B14F-4D97-AF65-F5344CB8AC3E}">
        <p14:creationId xmlns:p14="http://schemas.microsoft.com/office/powerpoint/2010/main" val="3483929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ru-RU"/>
              <a:t>Образец заголовка</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5FC06136-4108-482B-AFFF-106B86E39634}" type="datetimeFigureOut">
              <a:rPr lang="ru-RU" smtClean="0"/>
              <a:t>25.05.2026</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8D957CA-E736-4F4F-8CB7-7A364DB533A0}" type="slidenum">
              <a:rPr lang="ru-RU" smtClean="0"/>
              <a:t>‹#›</a:t>
            </a:fld>
            <a:endParaRPr lang="ru-RU"/>
          </a:p>
        </p:txBody>
      </p:sp>
    </p:spTree>
    <p:extLst>
      <p:ext uri="{BB962C8B-B14F-4D97-AF65-F5344CB8AC3E}">
        <p14:creationId xmlns:p14="http://schemas.microsoft.com/office/powerpoint/2010/main" val="3446076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5FC06136-4108-482B-AFFF-106B86E39634}" type="datetimeFigureOut">
              <a:rPr lang="ru-RU" smtClean="0"/>
              <a:t>25.05.2026</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8D957CA-E736-4F4F-8CB7-7A364DB533A0}" type="slidenum">
              <a:rPr lang="ru-RU" smtClean="0"/>
              <a:t>‹#›</a:t>
            </a:fld>
            <a:endParaRPr lang="ru-RU"/>
          </a:p>
        </p:txBody>
      </p:sp>
    </p:spTree>
    <p:extLst>
      <p:ext uri="{BB962C8B-B14F-4D97-AF65-F5344CB8AC3E}">
        <p14:creationId xmlns:p14="http://schemas.microsoft.com/office/powerpoint/2010/main" val="3507718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ru-RU"/>
              <a:t>Образец заголовка</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5FC06136-4108-482B-AFFF-106B86E39634}" type="datetimeFigureOut">
              <a:rPr lang="ru-RU" smtClean="0"/>
              <a:t>25.05.2026</a:t>
            </a:fld>
            <a:endParaRPr lang="ru-RU"/>
          </a:p>
        </p:txBody>
      </p:sp>
      <p:sp>
        <p:nvSpPr>
          <p:cNvPr id="5" name="Footer Placeholder 4"/>
          <p:cNvSpPr>
            <a:spLocks noGrp="1"/>
          </p:cNvSpPr>
          <p:nvPr>
            <p:ph type="ftr" sz="quarter" idx="11"/>
          </p:nvPr>
        </p:nvSpPr>
        <p:spPr/>
        <p:txBody>
          <a:bodyPr/>
          <a:lstStyle/>
          <a:p>
            <a:endParaRPr lang="ru-RU"/>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8D957CA-E736-4F4F-8CB7-7A364DB533A0}" type="slidenum">
              <a:rPr lang="ru-RU" smtClean="0"/>
              <a:t>‹#›</a:t>
            </a:fld>
            <a:endParaRPr lang="ru-RU"/>
          </a:p>
        </p:txBody>
      </p:sp>
    </p:spTree>
    <p:extLst>
      <p:ext uri="{BB962C8B-B14F-4D97-AF65-F5344CB8AC3E}">
        <p14:creationId xmlns:p14="http://schemas.microsoft.com/office/powerpoint/2010/main" val="3752031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ru-RU"/>
              <a:t>Образец заголовка</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5FC06136-4108-482B-AFFF-106B86E39634}" type="datetimeFigureOut">
              <a:rPr lang="ru-RU" smtClean="0"/>
              <a:t>25.05.2026</a:t>
            </a:fld>
            <a:endParaRPr lang="ru-RU"/>
          </a:p>
        </p:txBody>
      </p:sp>
      <p:sp>
        <p:nvSpPr>
          <p:cNvPr id="5" name="Footer Placeholder 4"/>
          <p:cNvSpPr>
            <a:spLocks noGrp="1"/>
          </p:cNvSpPr>
          <p:nvPr>
            <p:ph type="ftr" sz="quarter" idx="11"/>
          </p:nvPr>
        </p:nvSpPr>
        <p:spPr/>
        <p:txBody>
          <a:bodyPr/>
          <a:lstStyle/>
          <a:p>
            <a:endParaRPr lang="ru-RU"/>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8D957CA-E736-4F4F-8CB7-7A364DB533A0}" type="slidenum">
              <a:rPr lang="ru-RU" smtClean="0"/>
              <a:t>‹#›</a:t>
            </a:fld>
            <a:endParaRPr lang="ru-RU"/>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96414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ru-RU"/>
              <a:t>Образец заголовка</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a:t>Образец текста</a:t>
            </a:r>
          </a:p>
        </p:txBody>
      </p:sp>
      <p:sp>
        <p:nvSpPr>
          <p:cNvPr id="5" name="Date Placeholder 4"/>
          <p:cNvSpPr>
            <a:spLocks noGrp="1"/>
          </p:cNvSpPr>
          <p:nvPr>
            <p:ph type="dt" sz="half" idx="10"/>
          </p:nvPr>
        </p:nvSpPr>
        <p:spPr/>
        <p:txBody>
          <a:bodyPr/>
          <a:lstStyle/>
          <a:p>
            <a:fld id="{5FC06136-4108-482B-AFFF-106B86E39634}" type="datetimeFigureOut">
              <a:rPr lang="ru-RU" smtClean="0"/>
              <a:t>25.05.2026</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8D957CA-E736-4F4F-8CB7-7A364DB533A0}" type="slidenum">
              <a:rPr lang="ru-RU" smtClean="0"/>
              <a:t>‹#›</a:t>
            </a:fld>
            <a:endParaRPr lang="ru-RU"/>
          </a:p>
        </p:txBody>
      </p:sp>
    </p:spTree>
    <p:extLst>
      <p:ext uri="{BB962C8B-B14F-4D97-AF65-F5344CB8AC3E}">
        <p14:creationId xmlns:p14="http://schemas.microsoft.com/office/powerpoint/2010/main" val="10611614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ru-RU"/>
              <a:t>Образец заголовка</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a:t>Образец текста</a:t>
            </a:r>
          </a:p>
        </p:txBody>
      </p:sp>
      <p:sp>
        <p:nvSpPr>
          <p:cNvPr id="5" name="Date Placeholder 4"/>
          <p:cNvSpPr>
            <a:spLocks noGrp="1"/>
          </p:cNvSpPr>
          <p:nvPr>
            <p:ph type="dt" sz="half" idx="10"/>
          </p:nvPr>
        </p:nvSpPr>
        <p:spPr/>
        <p:txBody>
          <a:bodyPr/>
          <a:lstStyle/>
          <a:p>
            <a:fld id="{5FC06136-4108-482B-AFFF-106B86E39634}" type="datetimeFigureOut">
              <a:rPr lang="ru-RU" smtClean="0"/>
              <a:t>25.05.2026</a:t>
            </a:fld>
            <a:endParaRPr lang="ru-RU"/>
          </a:p>
        </p:txBody>
      </p:sp>
      <p:sp>
        <p:nvSpPr>
          <p:cNvPr id="6" name="Footer Placeholder 5"/>
          <p:cNvSpPr>
            <a:spLocks noGrp="1"/>
          </p:cNvSpPr>
          <p:nvPr>
            <p:ph type="ftr" sz="quarter" idx="11"/>
          </p:nvPr>
        </p:nvSpPr>
        <p:spPr/>
        <p:txBody>
          <a:bodyPr/>
          <a:lstStyle/>
          <a:p>
            <a:endParaRPr lang="ru-RU"/>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8D957CA-E736-4F4F-8CB7-7A364DB533A0}" type="slidenum">
              <a:rPr lang="ru-RU" smtClean="0"/>
              <a:t>‹#›</a:t>
            </a:fld>
            <a:endParaRPr lang="ru-RU"/>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62069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ru-RU"/>
              <a:t>Образец заголовка</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ru-RU"/>
              <a:t>Образец текста</a:t>
            </a:r>
          </a:p>
        </p:txBody>
      </p:sp>
      <p:sp>
        <p:nvSpPr>
          <p:cNvPr id="5" name="Date Placeholder 4"/>
          <p:cNvSpPr>
            <a:spLocks noGrp="1"/>
          </p:cNvSpPr>
          <p:nvPr>
            <p:ph type="dt" sz="half" idx="10"/>
          </p:nvPr>
        </p:nvSpPr>
        <p:spPr/>
        <p:txBody>
          <a:bodyPr/>
          <a:lstStyle/>
          <a:p>
            <a:fld id="{5FC06136-4108-482B-AFFF-106B86E39634}" type="datetimeFigureOut">
              <a:rPr lang="ru-RU" smtClean="0"/>
              <a:t>25.05.2026</a:t>
            </a:fld>
            <a:endParaRPr lang="ru-RU"/>
          </a:p>
        </p:txBody>
      </p:sp>
      <p:sp>
        <p:nvSpPr>
          <p:cNvPr id="6" name="Footer Placeholder 5"/>
          <p:cNvSpPr>
            <a:spLocks noGrp="1"/>
          </p:cNvSpPr>
          <p:nvPr>
            <p:ph type="ftr" sz="quarter" idx="11"/>
          </p:nvPr>
        </p:nvSpPr>
        <p:spPr/>
        <p:txBody>
          <a:bodyPr/>
          <a:lstStyle/>
          <a:p>
            <a:endParaRPr lang="ru-RU"/>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8D957CA-E736-4F4F-8CB7-7A364DB533A0}" type="slidenum">
              <a:rPr lang="ru-RU" smtClean="0"/>
              <a:t>‹#›</a:t>
            </a:fld>
            <a:endParaRPr lang="ru-RU"/>
          </a:p>
        </p:txBody>
      </p:sp>
    </p:spTree>
    <p:extLst>
      <p:ext uri="{BB962C8B-B14F-4D97-AF65-F5344CB8AC3E}">
        <p14:creationId xmlns:p14="http://schemas.microsoft.com/office/powerpoint/2010/main" val="30017728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FC06136-4108-482B-AFFF-106B86E39634}" type="datetimeFigureOut">
              <a:rPr lang="ru-RU" smtClean="0"/>
              <a:t>25.05.2026</a:t>
            </a:fld>
            <a:endParaRPr lang="ru-RU"/>
          </a:p>
        </p:txBody>
      </p:sp>
      <p:sp>
        <p:nvSpPr>
          <p:cNvPr id="5" name="Footer Placeholder 4"/>
          <p:cNvSpPr>
            <a:spLocks noGrp="1"/>
          </p:cNvSpPr>
          <p:nvPr>
            <p:ph type="ftr" sz="quarter" idx="11"/>
          </p:nvPr>
        </p:nvSpPr>
        <p:spPr/>
        <p:txBody>
          <a:bodyPr/>
          <a:lstStyle/>
          <a:p>
            <a:endParaRPr lang="ru-R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8D957CA-E736-4F4F-8CB7-7A364DB533A0}" type="slidenum">
              <a:rPr lang="ru-RU" smtClean="0"/>
              <a:t>‹#›</a:t>
            </a:fld>
            <a:endParaRPr lang="ru-RU"/>
          </a:p>
        </p:txBody>
      </p:sp>
    </p:spTree>
    <p:extLst>
      <p:ext uri="{BB962C8B-B14F-4D97-AF65-F5344CB8AC3E}">
        <p14:creationId xmlns:p14="http://schemas.microsoft.com/office/powerpoint/2010/main" val="3501125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ru-RU"/>
              <a:t>Образец заголовка</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FC06136-4108-482B-AFFF-106B86E39634}" type="datetimeFigureOut">
              <a:rPr lang="ru-RU" smtClean="0"/>
              <a:t>25.05.2026</a:t>
            </a:fld>
            <a:endParaRPr lang="ru-RU"/>
          </a:p>
        </p:txBody>
      </p:sp>
      <p:sp>
        <p:nvSpPr>
          <p:cNvPr id="5" name="Footer Placeholder 4"/>
          <p:cNvSpPr>
            <a:spLocks noGrp="1"/>
          </p:cNvSpPr>
          <p:nvPr>
            <p:ph type="ftr" sz="quarter" idx="11"/>
          </p:nvPr>
        </p:nvSpPr>
        <p:spPr/>
        <p:txBody>
          <a:bodyPr/>
          <a:lstStyle/>
          <a:p>
            <a:endParaRPr lang="ru-RU"/>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8D957CA-E736-4F4F-8CB7-7A364DB533A0}" type="slidenum">
              <a:rPr lang="ru-RU" smtClean="0"/>
              <a:t>‹#›</a:t>
            </a:fld>
            <a:endParaRPr lang="ru-RU"/>
          </a:p>
        </p:txBody>
      </p:sp>
    </p:spTree>
    <p:extLst>
      <p:ext uri="{BB962C8B-B14F-4D97-AF65-F5344CB8AC3E}">
        <p14:creationId xmlns:p14="http://schemas.microsoft.com/office/powerpoint/2010/main" val="3371697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ru-RU"/>
              <a:t>Образец заголовка</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FC06136-4108-482B-AFFF-106B86E39634}" type="datetimeFigureOut">
              <a:rPr lang="ru-RU" smtClean="0"/>
              <a:t>25.05.2026</a:t>
            </a:fld>
            <a:endParaRPr lang="ru-RU"/>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ru-RU"/>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8D957CA-E736-4F4F-8CB7-7A364DB533A0}" type="slidenum">
              <a:rPr lang="ru-RU" smtClean="0"/>
              <a:t>‹#›</a:t>
            </a:fld>
            <a:endParaRPr lang="ru-RU"/>
          </a:p>
        </p:txBody>
      </p:sp>
    </p:spTree>
    <p:extLst>
      <p:ext uri="{BB962C8B-B14F-4D97-AF65-F5344CB8AC3E}">
        <p14:creationId xmlns:p14="http://schemas.microsoft.com/office/powerpoint/2010/main" val="12021862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CEB1AC-2E97-98EC-A699-298A5A004680}"/>
              </a:ext>
            </a:extLst>
          </p:cNvPr>
          <p:cNvSpPr>
            <a:spLocks noGrp="1"/>
          </p:cNvSpPr>
          <p:nvPr>
            <p:ph type="ctrTitle"/>
          </p:nvPr>
        </p:nvSpPr>
        <p:spPr>
          <a:xfrm>
            <a:off x="1145406" y="1779525"/>
            <a:ext cx="9144000" cy="2290813"/>
          </a:xfrm>
        </p:spPr>
        <p:txBody>
          <a:bodyPr>
            <a:noAutofit/>
          </a:bodyPr>
          <a:lstStyle/>
          <a:p>
            <a:r>
              <a:rPr lang="ru-RU" sz="2800" b="1" dirty="0">
                <a:latin typeface="Times New Roman" panose="02020603050405020304" pitchFamily="18" charset="0"/>
                <a:cs typeface="Times New Roman" panose="02020603050405020304" pitchFamily="18" charset="0"/>
              </a:rPr>
              <a:t>ОТЧЕТ</a:t>
            </a:r>
            <a:br>
              <a:rPr lang="ru-RU" sz="2800" b="1" dirty="0">
                <a:latin typeface="Times New Roman" panose="02020603050405020304" pitchFamily="18" charset="0"/>
                <a:cs typeface="Times New Roman" panose="02020603050405020304" pitchFamily="18" charset="0"/>
              </a:rPr>
            </a:br>
            <a:br>
              <a:rPr lang="ru-RU" sz="2500" dirty="0">
                <a:latin typeface="Times New Roman" panose="02020603050405020304" pitchFamily="18" charset="0"/>
                <a:cs typeface="Times New Roman" panose="02020603050405020304" pitchFamily="18" charset="0"/>
              </a:rPr>
            </a:br>
            <a:r>
              <a:rPr lang="ru-RU" sz="2500" b="1" dirty="0">
                <a:latin typeface="Times New Roman" panose="02020603050405020304" pitchFamily="18" charset="0"/>
                <a:cs typeface="Times New Roman" panose="02020603050405020304" pitchFamily="18" charset="0"/>
              </a:rPr>
              <a:t> по производственной практике</a:t>
            </a:r>
            <a:br>
              <a:rPr lang="ru-RU" sz="2500" dirty="0">
                <a:latin typeface="Times New Roman" panose="02020603050405020304" pitchFamily="18" charset="0"/>
                <a:cs typeface="Times New Roman" panose="02020603050405020304" pitchFamily="18" charset="0"/>
              </a:rPr>
            </a:br>
            <a:r>
              <a:rPr lang="ru-RU" sz="2500" b="1" dirty="0">
                <a:latin typeface="Times New Roman" panose="02020603050405020304" pitchFamily="18" charset="0"/>
                <a:cs typeface="Times New Roman" panose="02020603050405020304" pitchFamily="18" charset="0"/>
              </a:rPr>
              <a:t>ПМ.11. Разработка, администрирование и защита баз данных</a:t>
            </a:r>
            <a:br>
              <a:rPr lang="en-US" sz="2500" b="1" dirty="0">
                <a:latin typeface="Times New Roman" panose="02020603050405020304" pitchFamily="18" charset="0"/>
                <a:cs typeface="Times New Roman" panose="02020603050405020304" pitchFamily="18" charset="0"/>
              </a:rPr>
            </a:br>
            <a:r>
              <a:rPr lang="ru-RU" sz="2500" b="1" dirty="0">
                <a:latin typeface="Times New Roman" panose="02020603050405020304" pitchFamily="18" charset="0"/>
                <a:cs typeface="Times New Roman" panose="02020603050405020304" pitchFamily="18" charset="0"/>
              </a:rPr>
              <a:t>Тема: «Разработка базы данных «Учёт картриджей для принтера»</a:t>
            </a:r>
            <a:br>
              <a:rPr lang="ru-RU" sz="2800" b="1" dirty="0"/>
            </a:br>
            <a:endParaRPr lang="ru-RU" sz="2800"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8AA271E9-7A07-34B5-71B8-9D5792454FF0}"/>
              </a:ext>
            </a:extLst>
          </p:cNvPr>
          <p:cNvSpPr>
            <a:spLocks noGrp="1"/>
          </p:cNvSpPr>
          <p:nvPr>
            <p:ph type="subTitle" idx="1"/>
          </p:nvPr>
        </p:nvSpPr>
        <p:spPr>
          <a:xfrm>
            <a:off x="1326038" y="130851"/>
            <a:ext cx="9144000" cy="1235935"/>
          </a:xfrm>
        </p:spPr>
        <p:txBody>
          <a:bodyPr>
            <a:normAutofit fontScale="85000" lnSpcReduction="20000"/>
          </a:bodyPr>
          <a:lstStyle/>
          <a:p>
            <a:pPr algn="ctr"/>
            <a:r>
              <a:rPr lang="ru-RU" dirty="0">
                <a:latin typeface="Times New Roman" panose="02020603050405020304" pitchFamily="18" charset="0"/>
                <a:cs typeface="Times New Roman" panose="02020603050405020304" pitchFamily="18" charset="0"/>
              </a:rPr>
              <a:t>МИНИСТЕРСТВО ОБРАЗОВАНИЯ КИРОВСКОЙ ОБЛАСТИ</a:t>
            </a:r>
          </a:p>
          <a:p>
            <a:pPr algn="ctr"/>
            <a:r>
              <a:rPr lang="ru-RU" dirty="0">
                <a:latin typeface="Times New Roman" panose="02020603050405020304" pitchFamily="18" charset="0"/>
                <a:cs typeface="Times New Roman" panose="02020603050405020304" pitchFamily="18" charset="0"/>
              </a:rPr>
              <a:t>Кировское областное государственное профессиональное образовательное </a:t>
            </a:r>
          </a:p>
          <a:p>
            <a:pPr algn="ctr"/>
            <a:r>
              <a:rPr lang="ru-RU" dirty="0">
                <a:latin typeface="Times New Roman" panose="02020603050405020304" pitchFamily="18" charset="0"/>
                <a:cs typeface="Times New Roman" panose="02020603050405020304" pitchFamily="18" charset="0"/>
              </a:rPr>
              <a:t> бюджетное учреждение  </a:t>
            </a:r>
          </a:p>
          <a:p>
            <a:pPr algn="ctr"/>
            <a:r>
              <a:rPr lang="ru-RU" dirty="0">
                <a:latin typeface="Times New Roman" panose="02020603050405020304" pitchFamily="18" charset="0"/>
                <a:cs typeface="Times New Roman" panose="02020603050405020304" pitchFamily="18" charset="0"/>
              </a:rPr>
              <a:t>«Слободской колледж педагогики и социальных отношений»</a:t>
            </a:r>
          </a:p>
          <a:p>
            <a:pPr algn="ctr"/>
            <a:endParaRPr lang="ru-RU" dirty="0">
              <a:latin typeface="Times New Roman" panose="02020603050405020304" pitchFamily="18" charset="0"/>
              <a:cs typeface="Times New Roman" panose="02020603050405020304" pitchFamily="18" charset="0"/>
            </a:endParaRPr>
          </a:p>
        </p:txBody>
      </p:sp>
      <p:sp>
        <p:nvSpPr>
          <p:cNvPr id="4" name="Подзаголовок 2">
            <a:extLst>
              <a:ext uri="{FF2B5EF4-FFF2-40B4-BE49-F238E27FC236}">
                <a16:creationId xmlns:a16="http://schemas.microsoft.com/office/drawing/2014/main" id="{6E69DBC7-F925-4CF3-E027-0938593B0E26}"/>
              </a:ext>
            </a:extLst>
          </p:cNvPr>
          <p:cNvSpPr txBox="1">
            <a:spLocks/>
          </p:cNvSpPr>
          <p:nvPr/>
        </p:nvSpPr>
        <p:spPr>
          <a:xfrm>
            <a:off x="5717406" y="3765538"/>
            <a:ext cx="6296526" cy="2024970"/>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ru-RU" dirty="0">
                <a:latin typeface="Times New Roman" panose="02020603050405020304" pitchFamily="18" charset="0"/>
                <a:cs typeface="Times New Roman" panose="02020603050405020304" pitchFamily="18" charset="0"/>
              </a:rPr>
              <a:t>Выполнила: Красноперова Ульяна Анатольевна</a:t>
            </a:r>
          </a:p>
          <a:p>
            <a:pPr algn="r"/>
            <a:r>
              <a:rPr lang="ru-RU" dirty="0">
                <a:latin typeface="Times New Roman" panose="02020603050405020304" pitchFamily="18" charset="0"/>
                <a:cs typeface="Times New Roman" panose="02020603050405020304" pitchFamily="18" charset="0"/>
              </a:rPr>
              <a:t>Группа: 23П-2</a:t>
            </a:r>
          </a:p>
          <a:p>
            <a:pPr algn="r"/>
            <a:r>
              <a:rPr lang="ru-RU" dirty="0">
                <a:latin typeface="Times New Roman" panose="02020603050405020304" pitchFamily="18" charset="0"/>
                <a:cs typeface="Times New Roman" panose="02020603050405020304" pitchFamily="18" charset="0"/>
              </a:rPr>
              <a:t>Специальность: 09.02.07 Информационные системы и программирование</a:t>
            </a:r>
          </a:p>
          <a:p>
            <a:pPr algn="r"/>
            <a:r>
              <a:rPr lang="ru-RU" dirty="0">
                <a:latin typeface="Times New Roman" panose="02020603050405020304" pitchFamily="18" charset="0"/>
                <a:cs typeface="Times New Roman" panose="02020603050405020304" pitchFamily="18" charset="0"/>
              </a:rPr>
              <a:t>Руководитель: Михалев Максим Александрович</a:t>
            </a:r>
          </a:p>
        </p:txBody>
      </p:sp>
      <p:sp>
        <p:nvSpPr>
          <p:cNvPr id="5" name="Подзаголовок 2">
            <a:extLst>
              <a:ext uri="{FF2B5EF4-FFF2-40B4-BE49-F238E27FC236}">
                <a16:creationId xmlns:a16="http://schemas.microsoft.com/office/drawing/2014/main" id="{602E7854-E0FE-F252-218F-CC90BB16C4F6}"/>
              </a:ext>
            </a:extLst>
          </p:cNvPr>
          <p:cNvSpPr txBox="1">
            <a:spLocks/>
          </p:cNvSpPr>
          <p:nvPr/>
        </p:nvSpPr>
        <p:spPr>
          <a:xfrm>
            <a:off x="5297905" y="6073542"/>
            <a:ext cx="1596190" cy="53810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ru-RU" dirty="0">
                <a:latin typeface="Times New Roman" panose="02020603050405020304" pitchFamily="18" charset="0"/>
                <a:cs typeface="Times New Roman" panose="02020603050405020304" pitchFamily="18" charset="0"/>
              </a:rPr>
              <a:t>2026г.</a:t>
            </a:r>
          </a:p>
        </p:txBody>
      </p:sp>
    </p:spTree>
    <p:extLst>
      <p:ext uri="{BB962C8B-B14F-4D97-AF65-F5344CB8AC3E}">
        <p14:creationId xmlns:p14="http://schemas.microsoft.com/office/powerpoint/2010/main" val="895426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1EC55D8-6565-DC0F-0DE3-D2BA6BE45339}"/>
              </a:ext>
            </a:extLst>
          </p:cNvPr>
          <p:cNvSpPr>
            <a:spLocks noGrp="1"/>
          </p:cNvSpPr>
          <p:nvPr>
            <p:ph type="title"/>
          </p:nvPr>
        </p:nvSpPr>
        <p:spPr/>
        <p:txBody>
          <a:bodyPr/>
          <a:lstStyle/>
          <a:p>
            <a:r>
              <a:rPr lang="ru-RU" b="1" dirty="0">
                <a:latin typeface="Times New Roman" panose="02020603050405020304" pitchFamily="18" charset="0"/>
                <a:cs typeface="Times New Roman" panose="02020603050405020304" pitchFamily="18" charset="0"/>
              </a:rPr>
              <a:t>Цель</a:t>
            </a:r>
          </a:p>
        </p:txBody>
      </p:sp>
      <p:sp>
        <p:nvSpPr>
          <p:cNvPr id="3" name="Объект 2">
            <a:extLst>
              <a:ext uri="{FF2B5EF4-FFF2-40B4-BE49-F238E27FC236}">
                <a16:creationId xmlns:a16="http://schemas.microsoft.com/office/drawing/2014/main" id="{F0F1BF42-B666-C690-1C51-D105E1E43C23}"/>
              </a:ext>
            </a:extLst>
          </p:cNvPr>
          <p:cNvSpPr>
            <a:spLocks noGrp="1"/>
          </p:cNvSpPr>
          <p:nvPr>
            <p:ph idx="1"/>
          </p:nvPr>
        </p:nvSpPr>
        <p:spPr/>
        <p:txBody>
          <a:bodyPr>
            <a:normAutofit/>
          </a:bodyPr>
          <a:lstStyle/>
          <a:p>
            <a:r>
              <a:rPr lang="ru-RU" sz="2400" dirty="0">
                <a:latin typeface="Times New Roman" panose="02020603050405020304" pitchFamily="18" charset="0"/>
                <a:cs typeface="Times New Roman" panose="02020603050405020304" pitchFamily="18" charset="0"/>
              </a:rPr>
              <a:t>Изучить предметную область «Учёт картриджей для принтера в организации», выявить основные сущности, их атрибуты и связи, а также определить требования к будущей базе данных.</a:t>
            </a:r>
          </a:p>
        </p:txBody>
      </p:sp>
    </p:spTree>
    <p:extLst>
      <p:ext uri="{BB962C8B-B14F-4D97-AF65-F5344CB8AC3E}">
        <p14:creationId xmlns:p14="http://schemas.microsoft.com/office/powerpoint/2010/main" val="715497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DD7046B-3DA7-037F-4A79-412CEDC81F6F}"/>
              </a:ext>
            </a:extLst>
          </p:cNvPr>
          <p:cNvSpPr>
            <a:spLocks noGrp="1"/>
          </p:cNvSpPr>
          <p:nvPr>
            <p:ph type="title"/>
          </p:nvPr>
        </p:nvSpPr>
        <p:spPr/>
        <p:txBody>
          <a:bodyPr/>
          <a:lstStyle/>
          <a:p>
            <a:pPr lvl="0"/>
            <a:r>
              <a:rPr lang="ru-RU" b="1" dirty="0">
                <a:latin typeface="Times New Roman" panose="02020603050405020304" pitchFamily="18" charset="0"/>
                <a:cs typeface="Times New Roman" panose="02020603050405020304" pitchFamily="18" charset="0"/>
              </a:rPr>
              <a:t>Анализ бизнес-процессов</a:t>
            </a:r>
            <a:endParaRPr lang="ru-RU"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622ABCAB-E65E-7A2B-D091-9ED7CAFFFABD}"/>
              </a:ext>
            </a:extLst>
          </p:cNvPr>
          <p:cNvSpPr>
            <a:spLocks noGrp="1"/>
          </p:cNvSpPr>
          <p:nvPr>
            <p:ph idx="1"/>
          </p:nvPr>
        </p:nvSpPr>
        <p:spPr>
          <a:xfrm>
            <a:off x="2034022" y="2073442"/>
            <a:ext cx="5014746" cy="3609474"/>
          </a:xfrm>
        </p:spPr>
        <p:txBody>
          <a:bodyPr>
            <a:noAutofit/>
          </a:bodyPr>
          <a:lstStyle/>
          <a:p>
            <a:pPr lvl="0"/>
            <a:r>
              <a:rPr lang="ru-RU" dirty="0">
                <a:latin typeface="Times New Roman" panose="02020603050405020304" pitchFamily="18" charset="0"/>
                <a:cs typeface="Times New Roman" panose="02020603050405020304" pitchFamily="18" charset="0"/>
              </a:rPr>
              <a:t>Выдача картриджа в отделение – сотрудник склада передаёт заправленный картридж сотруднику отдела.</a:t>
            </a:r>
          </a:p>
          <a:p>
            <a:pPr lvl="0"/>
            <a:r>
              <a:rPr lang="ru-RU" dirty="0">
                <a:latin typeface="Times New Roman" panose="02020603050405020304" pitchFamily="18" charset="0"/>
                <a:cs typeface="Times New Roman" panose="02020603050405020304" pitchFamily="18" charset="0"/>
              </a:rPr>
              <a:t>Возврат картриджа из отделения – отдел возвращает пустой картридж на склад.</a:t>
            </a:r>
          </a:p>
          <a:p>
            <a:pPr lvl="0"/>
            <a:r>
              <a:rPr lang="ru-RU" dirty="0">
                <a:latin typeface="Times New Roman" panose="02020603050405020304" pitchFamily="18" charset="0"/>
                <a:cs typeface="Times New Roman" panose="02020603050405020304" pitchFamily="18" charset="0"/>
              </a:rPr>
              <a:t>Отправка картриджа на заправку – со склада пустой картридж направляется в сервисный центр.</a:t>
            </a:r>
          </a:p>
          <a:p>
            <a:pPr lvl="0"/>
            <a:r>
              <a:rPr lang="ru-RU" dirty="0">
                <a:latin typeface="Times New Roman" panose="02020603050405020304" pitchFamily="18" charset="0"/>
                <a:cs typeface="Times New Roman" panose="02020603050405020304" pitchFamily="18" charset="0"/>
              </a:rPr>
              <a:t>Приём картриджа с заправки – заправленный картридж возвращается на склад и становится доступен для выдачи.</a:t>
            </a:r>
          </a:p>
          <a:p>
            <a:r>
              <a:rPr lang="ru-RU" dirty="0">
                <a:latin typeface="Times New Roman" panose="02020603050405020304" pitchFamily="18" charset="0"/>
                <a:cs typeface="Times New Roman" panose="02020603050405020304" pitchFamily="18" charset="0"/>
              </a:rPr>
              <a:t>Списание картриджа – выбракованный или утерянный картридж выводится из учёта </a:t>
            </a:r>
          </a:p>
        </p:txBody>
      </p:sp>
      <p:pic>
        <p:nvPicPr>
          <p:cNvPr id="4" name="Рисунок 3">
            <a:extLst>
              <a:ext uri="{FF2B5EF4-FFF2-40B4-BE49-F238E27FC236}">
                <a16:creationId xmlns:a16="http://schemas.microsoft.com/office/drawing/2014/main" id="{0B294CC2-2623-ECE7-ED42-959C91BFB74B}"/>
              </a:ext>
            </a:extLst>
          </p:cNvPr>
          <p:cNvPicPr>
            <a:picLocks noChangeAspect="1"/>
          </p:cNvPicPr>
          <p:nvPr/>
        </p:nvPicPr>
        <p:blipFill>
          <a:blip r:embed="rId2"/>
          <a:stretch>
            <a:fillRect/>
          </a:stretch>
        </p:blipFill>
        <p:spPr>
          <a:xfrm>
            <a:off x="7311209" y="2258455"/>
            <a:ext cx="4674666" cy="3584882"/>
          </a:xfrm>
          <a:prstGeom prst="rect">
            <a:avLst/>
          </a:prstGeom>
        </p:spPr>
      </p:pic>
    </p:spTree>
    <p:extLst>
      <p:ext uri="{BB962C8B-B14F-4D97-AF65-F5344CB8AC3E}">
        <p14:creationId xmlns:p14="http://schemas.microsoft.com/office/powerpoint/2010/main" val="764462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75AF173-E752-3E50-4DE1-C9D058A6625F}"/>
              </a:ext>
            </a:extLst>
          </p:cNvPr>
          <p:cNvSpPr>
            <a:spLocks noGrp="1"/>
          </p:cNvSpPr>
          <p:nvPr>
            <p:ph type="title"/>
          </p:nvPr>
        </p:nvSpPr>
        <p:spPr>
          <a:xfrm>
            <a:off x="1190920" y="342018"/>
            <a:ext cx="10515600" cy="1325563"/>
          </a:xfrm>
        </p:spPr>
        <p:txBody>
          <a:bodyPr>
            <a:normAutofit fontScale="90000"/>
          </a:bodyPr>
          <a:lstStyle/>
          <a:p>
            <a:pPr algn="ctr"/>
            <a:r>
              <a:rPr lang="ru-RU" b="1" dirty="0">
                <a:latin typeface="Times New Roman" panose="02020603050405020304" pitchFamily="18" charset="0"/>
                <a:cs typeface="Times New Roman" panose="02020603050405020304" pitchFamily="18" charset="0"/>
              </a:rPr>
              <a:t>ВЫПОЛНЕНИЕ АНАЛИЗА И ПРЕДВАРИТЕЛЬНОЙ ОБРАБОТКИ ИНФОРМАЦИИ</a:t>
            </a:r>
            <a:endParaRPr lang="ru-RU"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43BAE4BD-EA2E-BACF-D436-2A8AE6BA2A5C}"/>
              </a:ext>
            </a:extLst>
          </p:cNvPr>
          <p:cNvSpPr>
            <a:spLocks noGrp="1"/>
          </p:cNvSpPr>
          <p:nvPr>
            <p:ph idx="1"/>
          </p:nvPr>
        </p:nvSpPr>
        <p:spPr>
          <a:xfrm>
            <a:off x="1190920" y="1749425"/>
            <a:ext cx="10345074" cy="5108575"/>
          </a:xfrm>
        </p:spPr>
        <p:txBody>
          <a:bodyPr>
            <a:normAutofit/>
          </a:bodyPr>
          <a:lstStyle/>
          <a:p>
            <a:pPr marL="0" indent="0">
              <a:buNone/>
            </a:pPr>
            <a:r>
              <a:rPr lang="ru-RU" dirty="0">
                <a:latin typeface="Times New Roman" panose="02020603050405020304" pitchFamily="18" charset="0"/>
                <a:cs typeface="Times New Roman" panose="02020603050405020304" pitchFamily="18" charset="0"/>
              </a:rPr>
              <a:t>Выявила: </a:t>
            </a:r>
          </a:p>
          <a:p>
            <a:r>
              <a:rPr lang="ru-RU" dirty="0">
                <a:latin typeface="Times New Roman" panose="02020603050405020304" pitchFamily="18" charset="0"/>
                <a:cs typeface="Times New Roman" panose="02020603050405020304" pitchFamily="18" charset="0"/>
              </a:rPr>
              <a:t>Выявила сущности и атрибуты</a:t>
            </a:r>
          </a:p>
          <a:p>
            <a:r>
              <a:rPr lang="ru-RU" dirty="0">
                <a:latin typeface="Times New Roman" panose="02020603050405020304" pitchFamily="18" charset="0"/>
                <a:cs typeface="Times New Roman" panose="02020603050405020304" pitchFamily="18" charset="0"/>
              </a:rPr>
              <a:t>Связи между сущностями</a:t>
            </a:r>
          </a:p>
          <a:p>
            <a:r>
              <a:rPr lang="ru-RU" dirty="0">
                <a:latin typeface="Times New Roman" panose="02020603050405020304" pitchFamily="18" charset="0"/>
                <a:cs typeface="Times New Roman" panose="02020603050405020304" pitchFamily="18" charset="0"/>
              </a:rPr>
              <a:t>Требования к системе</a:t>
            </a:r>
          </a:p>
          <a:p>
            <a:pPr marL="0" indent="0">
              <a:buNone/>
            </a:pPr>
            <a:r>
              <a:rPr lang="ru-RU" dirty="0">
                <a:latin typeface="Times New Roman" panose="02020603050405020304" pitchFamily="18" charset="0"/>
                <a:cs typeface="Times New Roman" panose="02020603050405020304" pitchFamily="18" charset="0"/>
              </a:rPr>
              <a:t>Сделала:</a:t>
            </a:r>
          </a:p>
          <a:p>
            <a:r>
              <a:rPr lang="ru-RU" dirty="0">
                <a:latin typeface="Times New Roman" panose="02020603050405020304" pitchFamily="18" charset="0"/>
                <a:cs typeface="Times New Roman" panose="02020603050405020304" pitchFamily="18" charset="0"/>
              </a:rPr>
              <a:t>Предварительную обработку информации</a:t>
            </a:r>
          </a:p>
          <a:p>
            <a:r>
              <a:rPr lang="ru-RU" dirty="0">
                <a:latin typeface="Times New Roman" panose="02020603050405020304" pitchFamily="18" charset="0"/>
                <a:cs typeface="Times New Roman" panose="02020603050405020304" pitchFamily="18" charset="0"/>
              </a:rPr>
              <a:t>Результат анализа</a:t>
            </a:r>
          </a:p>
        </p:txBody>
      </p:sp>
      <p:pic>
        <p:nvPicPr>
          <p:cNvPr id="7" name="Рисунок 6">
            <a:extLst>
              <a:ext uri="{FF2B5EF4-FFF2-40B4-BE49-F238E27FC236}">
                <a16:creationId xmlns:a16="http://schemas.microsoft.com/office/drawing/2014/main" id="{987F7E69-B2D7-5753-A997-35E87B62E23C}"/>
              </a:ext>
            </a:extLst>
          </p:cNvPr>
          <p:cNvPicPr>
            <a:picLocks noChangeAspect="1"/>
          </p:cNvPicPr>
          <p:nvPr/>
        </p:nvPicPr>
        <p:blipFill>
          <a:blip r:embed="rId2"/>
          <a:stretch>
            <a:fillRect/>
          </a:stretch>
        </p:blipFill>
        <p:spPr>
          <a:xfrm>
            <a:off x="6760794" y="2016478"/>
            <a:ext cx="3200847" cy="3219899"/>
          </a:xfrm>
          <a:prstGeom prst="rect">
            <a:avLst/>
          </a:prstGeom>
        </p:spPr>
      </p:pic>
    </p:spTree>
    <p:extLst>
      <p:ext uri="{BB962C8B-B14F-4D97-AF65-F5344CB8AC3E}">
        <p14:creationId xmlns:p14="http://schemas.microsoft.com/office/powerpoint/2010/main" val="3474919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8C604C0E-46A4-C7AE-7B3C-40ADC1B9C25A}"/>
              </a:ext>
            </a:extLst>
          </p:cNvPr>
          <p:cNvSpPr>
            <a:spLocks noGrp="1"/>
          </p:cNvSpPr>
          <p:nvPr>
            <p:ph type="title"/>
          </p:nvPr>
        </p:nvSpPr>
        <p:spPr>
          <a:xfrm>
            <a:off x="269507" y="149513"/>
            <a:ext cx="10515600" cy="1325563"/>
          </a:xfrm>
        </p:spPr>
        <p:txBody>
          <a:bodyPr>
            <a:normAutofit/>
          </a:bodyPr>
          <a:lstStyle/>
          <a:p>
            <a:pPr algn="ctr"/>
            <a:r>
              <a:rPr lang="ru-RU" b="1" dirty="0">
                <a:latin typeface="Times New Roman" panose="02020603050405020304" pitchFamily="18" charset="0"/>
                <a:cs typeface="Times New Roman" panose="02020603050405020304" pitchFamily="18" charset="0"/>
              </a:rPr>
              <a:t>ВЫДЕЛЕНИЕ ОБЪЕКТОВ И АТРИБУТОВ В СООТВЕТСТВИИ С ЗАДАНИЕМ</a:t>
            </a:r>
            <a:endParaRPr lang="ru-RU"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D51EC969-59DD-1CEE-F576-E584BB7CD1B3}"/>
              </a:ext>
            </a:extLst>
          </p:cNvPr>
          <p:cNvSpPr>
            <a:spLocks noGrp="1"/>
          </p:cNvSpPr>
          <p:nvPr>
            <p:ph idx="1"/>
          </p:nvPr>
        </p:nvSpPr>
        <p:spPr>
          <a:xfrm>
            <a:off x="816261" y="1279564"/>
            <a:ext cx="7856398" cy="4873560"/>
          </a:xfrm>
        </p:spPr>
        <p:txBody>
          <a:bodyPr>
            <a:normAutofit/>
          </a:bodyPr>
          <a:lstStyle/>
          <a:p>
            <a:pPr marL="0" indent="0">
              <a:buNone/>
            </a:pPr>
            <a:r>
              <a:rPr lang="ru-RU" dirty="0">
                <a:latin typeface="Times New Roman" panose="02020603050405020304" pitchFamily="18" charset="0"/>
                <a:cs typeface="Times New Roman" panose="02020603050405020304" pitchFamily="18" charset="0"/>
              </a:rPr>
              <a:t>Выделила:</a:t>
            </a:r>
          </a:p>
          <a:p>
            <a:r>
              <a:rPr lang="ru-RU" dirty="0">
                <a:latin typeface="Times New Roman" panose="02020603050405020304" pitchFamily="18" charset="0"/>
                <a:cs typeface="Times New Roman" panose="02020603050405020304" pitchFamily="18" charset="0"/>
              </a:rPr>
              <a:t>Выделила основные объекты</a:t>
            </a:r>
          </a:p>
          <a:p>
            <a:r>
              <a:rPr lang="ru-RU" dirty="0">
                <a:latin typeface="Times New Roman" panose="02020603050405020304" pitchFamily="18" charset="0"/>
                <a:cs typeface="Times New Roman" panose="02020603050405020304" pitchFamily="18" charset="0"/>
              </a:rPr>
              <a:t>Атрибуты для каждого объекта</a:t>
            </a:r>
            <a:endParaRPr lang="en-US"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Связи между объектами</a:t>
            </a:r>
          </a:p>
        </p:txBody>
      </p:sp>
      <p:pic>
        <p:nvPicPr>
          <p:cNvPr id="5" name="Рисунок 4">
            <a:extLst>
              <a:ext uri="{FF2B5EF4-FFF2-40B4-BE49-F238E27FC236}">
                <a16:creationId xmlns:a16="http://schemas.microsoft.com/office/drawing/2014/main" id="{22B6A6BA-C457-EB14-DC25-4FD25CDBD10E}"/>
              </a:ext>
            </a:extLst>
          </p:cNvPr>
          <p:cNvPicPr>
            <a:picLocks noChangeAspect="1"/>
          </p:cNvPicPr>
          <p:nvPr/>
        </p:nvPicPr>
        <p:blipFill>
          <a:blip r:embed="rId2"/>
          <a:stretch>
            <a:fillRect/>
          </a:stretch>
        </p:blipFill>
        <p:spPr>
          <a:xfrm>
            <a:off x="7424903" y="1598295"/>
            <a:ext cx="3589020" cy="1830705"/>
          </a:xfrm>
          <a:prstGeom prst="rect">
            <a:avLst/>
          </a:prstGeom>
        </p:spPr>
      </p:pic>
      <p:pic>
        <p:nvPicPr>
          <p:cNvPr id="7" name="Рисунок 6">
            <a:extLst>
              <a:ext uri="{FF2B5EF4-FFF2-40B4-BE49-F238E27FC236}">
                <a16:creationId xmlns:a16="http://schemas.microsoft.com/office/drawing/2014/main" id="{B2302DAB-E7D1-B238-4A46-0A974A316513}"/>
              </a:ext>
            </a:extLst>
          </p:cNvPr>
          <p:cNvPicPr>
            <a:picLocks noChangeAspect="1"/>
          </p:cNvPicPr>
          <p:nvPr/>
        </p:nvPicPr>
        <p:blipFill>
          <a:blip r:embed="rId3"/>
          <a:stretch>
            <a:fillRect/>
          </a:stretch>
        </p:blipFill>
        <p:spPr>
          <a:xfrm>
            <a:off x="7400658" y="3429000"/>
            <a:ext cx="3589020" cy="1627009"/>
          </a:xfrm>
          <a:prstGeom prst="rect">
            <a:avLst/>
          </a:prstGeom>
        </p:spPr>
      </p:pic>
      <p:pic>
        <p:nvPicPr>
          <p:cNvPr id="8" name="Рисунок 7">
            <a:extLst>
              <a:ext uri="{FF2B5EF4-FFF2-40B4-BE49-F238E27FC236}">
                <a16:creationId xmlns:a16="http://schemas.microsoft.com/office/drawing/2014/main" id="{F1C0ED7A-A3D9-175B-1256-9B36A6A95C79}"/>
              </a:ext>
            </a:extLst>
          </p:cNvPr>
          <p:cNvPicPr>
            <a:picLocks noChangeAspect="1"/>
          </p:cNvPicPr>
          <p:nvPr/>
        </p:nvPicPr>
        <p:blipFill>
          <a:blip r:embed="rId4"/>
          <a:stretch>
            <a:fillRect/>
          </a:stretch>
        </p:blipFill>
        <p:spPr>
          <a:xfrm>
            <a:off x="7400658" y="5061239"/>
            <a:ext cx="3589020" cy="1174639"/>
          </a:xfrm>
          <a:prstGeom prst="rect">
            <a:avLst/>
          </a:prstGeom>
        </p:spPr>
      </p:pic>
      <p:pic>
        <p:nvPicPr>
          <p:cNvPr id="10" name="Рисунок 9">
            <a:extLst>
              <a:ext uri="{FF2B5EF4-FFF2-40B4-BE49-F238E27FC236}">
                <a16:creationId xmlns:a16="http://schemas.microsoft.com/office/drawing/2014/main" id="{4A17FF10-A1BF-EE53-5BCF-64713A365D4F}"/>
              </a:ext>
            </a:extLst>
          </p:cNvPr>
          <p:cNvPicPr>
            <a:picLocks noChangeAspect="1"/>
          </p:cNvPicPr>
          <p:nvPr/>
        </p:nvPicPr>
        <p:blipFill>
          <a:blip r:embed="rId5"/>
          <a:stretch>
            <a:fillRect/>
          </a:stretch>
        </p:blipFill>
        <p:spPr>
          <a:xfrm>
            <a:off x="4629056" y="1637368"/>
            <a:ext cx="2795847" cy="876279"/>
          </a:xfrm>
          <a:prstGeom prst="rect">
            <a:avLst/>
          </a:prstGeom>
        </p:spPr>
      </p:pic>
      <p:pic>
        <p:nvPicPr>
          <p:cNvPr id="11" name="Рисунок 10">
            <a:extLst>
              <a:ext uri="{FF2B5EF4-FFF2-40B4-BE49-F238E27FC236}">
                <a16:creationId xmlns:a16="http://schemas.microsoft.com/office/drawing/2014/main" id="{A1F4C189-9226-AFD7-7669-AEDC9FB3D956}"/>
              </a:ext>
            </a:extLst>
          </p:cNvPr>
          <p:cNvPicPr>
            <a:picLocks noChangeAspect="1"/>
          </p:cNvPicPr>
          <p:nvPr/>
        </p:nvPicPr>
        <p:blipFill>
          <a:blip r:embed="rId6"/>
          <a:stretch>
            <a:fillRect/>
          </a:stretch>
        </p:blipFill>
        <p:spPr>
          <a:xfrm>
            <a:off x="4851075" y="3211963"/>
            <a:ext cx="2573828" cy="1357850"/>
          </a:xfrm>
          <a:prstGeom prst="rect">
            <a:avLst/>
          </a:prstGeom>
        </p:spPr>
      </p:pic>
      <p:pic>
        <p:nvPicPr>
          <p:cNvPr id="12" name="Рисунок 11">
            <a:extLst>
              <a:ext uri="{FF2B5EF4-FFF2-40B4-BE49-F238E27FC236}">
                <a16:creationId xmlns:a16="http://schemas.microsoft.com/office/drawing/2014/main" id="{7CC5BA5F-61A3-A372-CFBE-931908644D4F}"/>
              </a:ext>
            </a:extLst>
          </p:cNvPr>
          <p:cNvPicPr>
            <a:picLocks noChangeAspect="1"/>
          </p:cNvPicPr>
          <p:nvPr/>
        </p:nvPicPr>
        <p:blipFill>
          <a:blip r:embed="rId7"/>
          <a:stretch>
            <a:fillRect/>
          </a:stretch>
        </p:blipFill>
        <p:spPr>
          <a:xfrm>
            <a:off x="4851075" y="4513544"/>
            <a:ext cx="2539693" cy="770270"/>
          </a:xfrm>
          <a:prstGeom prst="rect">
            <a:avLst/>
          </a:prstGeom>
        </p:spPr>
      </p:pic>
      <p:pic>
        <p:nvPicPr>
          <p:cNvPr id="13" name="Рисунок 12">
            <a:extLst>
              <a:ext uri="{FF2B5EF4-FFF2-40B4-BE49-F238E27FC236}">
                <a16:creationId xmlns:a16="http://schemas.microsoft.com/office/drawing/2014/main" id="{6BDAE521-123E-7B19-F530-954E301534A4}"/>
              </a:ext>
            </a:extLst>
          </p:cNvPr>
          <p:cNvPicPr>
            <a:picLocks noChangeAspect="1"/>
          </p:cNvPicPr>
          <p:nvPr/>
        </p:nvPicPr>
        <p:blipFill>
          <a:blip r:embed="rId8"/>
          <a:stretch>
            <a:fillRect/>
          </a:stretch>
        </p:blipFill>
        <p:spPr>
          <a:xfrm>
            <a:off x="4854539" y="5259705"/>
            <a:ext cx="2573828" cy="736647"/>
          </a:xfrm>
          <a:prstGeom prst="rect">
            <a:avLst/>
          </a:prstGeom>
        </p:spPr>
      </p:pic>
      <p:pic>
        <p:nvPicPr>
          <p:cNvPr id="14" name="Picture 1168">
            <a:extLst>
              <a:ext uri="{FF2B5EF4-FFF2-40B4-BE49-F238E27FC236}">
                <a16:creationId xmlns:a16="http://schemas.microsoft.com/office/drawing/2014/main" id="{7478728B-A507-EB13-91C8-35348E953AA0}"/>
              </a:ext>
            </a:extLst>
          </p:cNvPr>
          <p:cNvPicPr/>
          <p:nvPr/>
        </p:nvPicPr>
        <p:blipFill>
          <a:blip r:embed="rId9"/>
          <a:stretch>
            <a:fillRect/>
          </a:stretch>
        </p:blipFill>
        <p:spPr>
          <a:xfrm>
            <a:off x="696499" y="3889082"/>
            <a:ext cx="3675113" cy="1627009"/>
          </a:xfrm>
          <a:prstGeom prst="rect">
            <a:avLst/>
          </a:prstGeom>
        </p:spPr>
      </p:pic>
    </p:spTree>
    <p:extLst>
      <p:ext uri="{BB962C8B-B14F-4D97-AF65-F5344CB8AC3E}">
        <p14:creationId xmlns:p14="http://schemas.microsoft.com/office/powerpoint/2010/main" val="4139982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70A39610-0FA2-2146-F18E-F778D1D8D05D}"/>
              </a:ext>
            </a:extLst>
          </p:cNvPr>
          <p:cNvSpPr>
            <a:spLocks noGrp="1"/>
          </p:cNvSpPr>
          <p:nvPr>
            <p:ph type="title"/>
          </p:nvPr>
        </p:nvSpPr>
        <p:spPr>
          <a:xfrm>
            <a:off x="269506" y="149513"/>
            <a:ext cx="11846293" cy="1325563"/>
          </a:xfrm>
        </p:spPr>
        <p:txBody>
          <a:bodyPr>
            <a:noAutofit/>
          </a:bodyPr>
          <a:lstStyle/>
          <a:p>
            <a:pPr algn="ctr"/>
            <a:r>
              <a:rPr lang="ru-RU" sz="2800" b="1" dirty="0">
                <a:latin typeface="Times New Roman" panose="02020603050405020304" pitchFamily="18" charset="0"/>
                <a:cs typeface="Times New Roman" panose="02020603050405020304" pitchFamily="18" charset="0"/>
              </a:rPr>
              <a:t>ПРОЕКТИРОВАНИЕ И НОРМАЛИЗАЦИЯ БД В ПОЛНОМ СООТВЕТСТВИИ С ПОСТАВЛЕННОЙ ЗАДАЧЕЙ И ПРИМЕНЕНИЕМ </a:t>
            </a:r>
            <a:r>
              <a:rPr lang="en-US" sz="2800" b="1" dirty="0">
                <a:latin typeface="Times New Roman" panose="02020603050405020304" pitchFamily="18" charset="0"/>
                <a:cs typeface="Times New Roman" panose="02020603050405020304" pitchFamily="18" charset="0"/>
              </a:rPr>
              <a:t>CASE</a:t>
            </a:r>
            <a:r>
              <a:rPr lang="ru-RU" sz="2800" b="1" dirty="0">
                <a:latin typeface="Times New Roman" panose="02020603050405020304" pitchFamily="18" charset="0"/>
                <a:cs typeface="Times New Roman" panose="02020603050405020304" pitchFamily="18" charset="0"/>
              </a:rPr>
              <a:t>-СРЕДСТВ</a:t>
            </a:r>
            <a:endParaRPr lang="ru-RU" sz="2800" dirty="0">
              <a:latin typeface="Times New Roman" panose="02020603050405020304" pitchFamily="18" charset="0"/>
              <a:cs typeface="Times New Roman" panose="02020603050405020304" pitchFamily="18" charset="0"/>
            </a:endParaRPr>
          </a:p>
        </p:txBody>
      </p:sp>
      <p:sp>
        <p:nvSpPr>
          <p:cNvPr id="5" name="Объект 2">
            <a:extLst>
              <a:ext uri="{FF2B5EF4-FFF2-40B4-BE49-F238E27FC236}">
                <a16:creationId xmlns:a16="http://schemas.microsoft.com/office/drawing/2014/main" id="{3B26EE31-A987-98FF-0851-5408312C6A95}"/>
              </a:ext>
            </a:extLst>
          </p:cNvPr>
          <p:cNvSpPr>
            <a:spLocks noGrp="1"/>
          </p:cNvSpPr>
          <p:nvPr>
            <p:ph idx="1"/>
          </p:nvPr>
        </p:nvSpPr>
        <p:spPr>
          <a:xfrm>
            <a:off x="835115" y="1260709"/>
            <a:ext cx="5754222" cy="5306375"/>
          </a:xfrm>
        </p:spPr>
        <p:txBody>
          <a:bodyPr>
            <a:normAutofit/>
          </a:bodyPr>
          <a:lstStyle/>
          <a:p>
            <a:pPr marL="0" indent="0">
              <a:buNone/>
            </a:pPr>
            <a:r>
              <a:rPr lang="ru-RU" dirty="0">
                <a:latin typeface="Times New Roman" panose="02020603050405020304" pitchFamily="18" charset="0"/>
                <a:cs typeface="Times New Roman" panose="02020603050405020304" pitchFamily="18" charset="0"/>
              </a:rPr>
              <a:t>Реализовала:</a:t>
            </a:r>
          </a:p>
          <a:p>
            <a:r>
              <a:rPr lang="ru-RU" dirty="0">
                <a:latin typeface="Times New Roman" panose="02020603050405020304" pitchFamily="18" charset="0"/>
                <a:cs typeface="Times New Roman" panose="02020603050405020304" pitchFamily="18" charset="0"/>
              </a:rPr>
              <a:t>Концептуальное проектирование</a:t>
            </a:r>
          </a:p>
          <a:p>
            <a:r>
              <a:rPr lang="ru-RU" dirty="0">
                <a:latin typeface="Times New Roman" panose="02020603050405020304" pitchFamily="18" charset="0"/>
                <a:cs typeface="Times New Roman" panose="02020603050405020304" pitchFamily="18" charset="0"/>
              </a:rPr>
              <a:t>Сущности и их атрибуты</a:t>
            </a:r>
          </a:p>
          <a:p>
            <a:r>
              <a:rPr lang="ru-RU" dirty="0">
                <a:latin typeface="Times New Roman" panose="02020603050405020304" pitchFamily="18" charset="0"/>
                <a:cs typeface="Times New Roman" panose="02020603050405020304" pitchFamily="18" charset="0"/>
              </a:rPr>
              <a:t>Проектирование и нормализацию</a:t>
            </a:r>
          </a:p>
          <a:p>
            <a:r>
              <a:rPr lang="ru-RU" dirty="0">
                <a:latin typeface="Times New Roman" panose="02020603050405020304" pitchFamily="18" charset="0"/>
                <a:cs typeface="Times New Roman" panose="02020603050405020304" pitchFamily="18" charset="0"/>
              </a:rPr>
              <a:t>Физическое проектирование в </a:t>
            </a:r>
            <a:r>
              <a:rPr lang="en-US" dirty="0">
                <a:latin typeface="Times New Roman" panose="02020603050405020304" pitchFamily="18" charset="0"/>
                <a:cs typeface="Times New Roman" panose="02020603050405020304" pitchFamily="18" charset="0"/>
              </a:rPr>
              <a:t>SSMS</a:t>
            </a:r>
          </a:p>
          <a:p>
            <a:r>
              <a:rPr lang="ru-RU" dirty="0">
                <a:latin typeface="Times New Roman" panose="02020603050405020304" pitchFamily="18" charset="0"/>
                <a:cs typeface="Times New Roman" panose="02020603050405020304" pitchFamily="18" charset="0"/>
              </a:rPr>
              <a:t>Применение </a:t>
            </a:r>
            <a:r>
              <a:rPr lang="en-US" dirty="0">
                <a:latin typeface="Times New Roman" panose="02020603050405020304" pitchFamily="18" charset="0"/>
                <a:cs typeface="Times New Roman" panose="02020603050405020304" pitchFamily="18" charset="0"/>
              </a:rPr>
              <a:t>CASE-</a:t>
            </a:r>
            <a:r>
              <a:rPr lang="ru-RU" dirty="0">
                <a:latin typeface="Times New Roman" panose="02020603050405020304" pitchFamily="18" charset="0"/>
                <a:cs typeface="Times New Roman" panose="02020603050405020304" pitchFamily="18" charset="0"/>
              </a:rPr>
              <a:t>средств</a:t>
            </a:r>
          </a:p>
          <a:p>
            <a:r>
              <a:rPr lang="ru-RU" dirty="0">
                <a:latin typeface="Times New Roman" panose="02020603050405020304" pitchFamily="18" charset="0"/>
                <a:cs typeface="Times New Roman" panose="02020603050405020304" pitchFamily="18" charset="0"/>
              </a:rPr>
              <a:t>Диаграмму БД</a:t>
            </a:r>
          </a:p>
        </p:txBody>
      </p:sp>
      <p:pic>
        <p:nvPicPr>
          <p:cNvPr id="3" name="Picture 1594">
            <a:extLst>
              <a:ext uri="{FF2B5EF4-FFF2-40B4-BE49-F238E27FC236}">
                <a16:creationId xmlns:a16="http://schemas.microsoft.com/office/drawing/2014/main" id="{D0601680-84E9-0A41-762C-D10A35BC09F7}"/>
              </a:ext>
            </a:extLst>
          </p:cNvPr>
          <p:cNvPicPr/>
          <p:nvPr/>
        </p:nvPicPr>
        <p:blipFill>
          <a:blip r:embed="rId2"/>
          <a:stretch>
            <a:fillRect/>
          </a:stretch>
        </p:blipFill>
        <p:spPr>
          <a:xfrm>
            <a:off x="6588387" y="1839191"/>
            <a:ext cx="4301835" cy="2441862"/>
          </a:xfrm>
          <a:prstGeom prst="rect">
            <a:avLst/>
          </a:prstGeom>
        </p:spPr>
      </p:pic>
      <p:pic>
        <p:nvPicPr>
          <p:cNvPr id="7" name="Рисунок 6">
            <a:extLst>
              <a:ext uri="{FF2B5EF4-FFF2-40B4-BE49-F238E27FC236}">
                <a16:creationId xmlns:a16="http://schemas.microsoft.com/office/drawing/2014/main" id="{9D8C3F06-92B5-24BE-E2D9-CDDFB15A7786}"/>
              </a:ext>
            </a:extLst>
          </p:cNvPr>
          <p:cNvPicPr>
            <a:picLocks noChangeAspect="1"/>
          </p:cNvPicPr>
          <p:nvPr/>
        </p:nvPicPr>
        <p:blipFill>
          <a:blip r:embed="rId3"/>
          <a:stretch>
            <a:fillRect/>
          </a:stretch>
        </p:blipFill>
        <p:spPr>
          <a:xfrm>
            <a:off x="5046490" y="3716575"/>
            <a:ext cx="4216911" cy="2850509"/>
          </a:xfrm>
          <a:prstGeom prst="rect">
            <a:avLst/>
          </a:prstGeom>
        </p:spPr>
      </p:pic>
    </p:spTree>
    <p:extLst>
      <p:ext uri="{BB962C8B-B14F-4D97-AF65-F5344CB8AC3E}">
        <p14:creationId xmlns:p14="http://schemas.microsoft.com/office/powerpoint/2010/main" val="860890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EFF41-2BE2-9EC7-0799-49ABE77E8A76}"/>
            </a:ext>
          </a:extLst>
        </p:cNvPr>
        <p:cNvGrpSpPr/>
        <p:nvPr/>
      </p:nvGrpSpPr>
      <p:grpSpPr>
        <a:xfrm>
          <a:off x="0" y="0"/>
          <a:ext cx="0" cy="0"/>
          <a:chOff x="0" y="0"/>
          <a:chExt cx="0" cy="0"/>
        </a:xfrm>
      </p:grpSpPr>
      <p:sp>
        <p:nvSpPr>
          <p:cNvPr id="4" name="Заголовок 1">
            <a:extLst>
              <a:ext uri="{FF2B5EF4-FFF2-40B4-BE49-F238E27FC236}">
                <a16:creationId xmlns:a16="http://schemas.microsoft.com/office/drawing/2014/main" id="{25B3D3DF-6038-5406-7264-EB2CE4EA65B0}"/>
              </a:ext>
            </a:extLst>
          </p:cNvPr>
          <p:cNvSpPr>
            <a:spLocks noGrp="1"/>
          </p:cNvSpPr>
          <p:nvPr>
            <p:ph type="title"/>
          </p:nvPr>
        </p:nvSpPr>
        <p:spPr>
          <a:xfrm>
            <a:off x="269506" y="149513"/>
            <a:ext cx="11846293" cy="1325563"/>
          </a:xfrm>
        </p:spPr>
        <p:txBody>
          <a:bodyPr>
            <a:normAutofit fontScale="90000"/>
          </a:bodyPr>
          <a:lstStyle/>
          <a:p>
            <a:pPr algn="ctr"/>
            <a:r>
              <a:rPr lang="ru-RU" sz="3100" b="1" dirty="0">
                <a:latin typeface="Times New Roman" panose="02020603050405020304" pitchFamily="18" charset="0"/>
                <a:cs typeface="Times New Roman" panose="02020603050405020304" pitchFamily="18" charset="0"/>
              </a:rPr>
              <a:t>ВЫПОЛНЕНИЕ ПОСТРОЕНИЯ БД В ПРЕДЛОЖЕННОЙ СУБД И </a:t>
            </a:r>
            <a:br>
              <a:rPr lang="ru-RU" sz="3100" dirty="0">
                <a:latin typeface="Times New Roman" panose="02020603050405020304" pitchFamily="18" charset="0"/>
                <a:cs typeface="Times New Roman" panose="02020603050405020304" pitchFamily="18" charset="0"/>
              </a:rPr>
            </a:br>
            <a:r>
              <a:rPr lang="ru-RU" sz="3100" b="1" dirty="0">
                <a:latin typeface="Times New Roman" panose="02020603050405020304" pitchFamily="18" charset="0"/>
                <a:cs typeface="Times New Roman" panose="02020603050405020304" pitchFamily="18" charset="0"/>
              </a:rPr>
              <a:t>ЗАПОЛНЕНИЕ ВСЕХ ТАБЛИЦ С ПОМОЩЬЮ </a:t>
            </a:r>
            <a:br>
              <a:rPr lang="ru-RU" sz="3100" dirty="0">
                <a:latin typeface="Times New Roman" panose="02020603050405020304" pitchFamily="18" charset="0"/>
                <a:cs typeface="Times New Roman" panose="02020603050405020304" pitchFamily="18" charset="0"/>
              </a:rPr>
            </a:br>
            <a:r>
              <a:rPr lang="ru-RU" sz="3100" b="1" dirty="0">
                <a:latin typeface="Times New Roman" panose="02020603050405020304" pitchFamily="18" charset="0"/>
                <a:cs typeface="Times New Roman" panose="02020603050405020304" pitchFamily="18" charset="0"/>
              </a:rPr>
              <a:t>СООТВЕТСТВУЮЩИХ СРЕДСТВ </a:t>
            </a:r>
            <a:br>
              <a:rPr lang="ru-RU" b="1" dirty="0"/>
            </a:br>
            <a:endParaRPr lang="ru-RU" dirty="0">
              <a:latin typeface="Times New Roman" panose="02020603050405020304" pitchFamily="18" charset="0"/>
              <a:cs typeface="Times New Roman" panose="02020603050405020304" pitchFamily="18" charset="0"/>
            </a:endParaRPr>
          </a:p>
        </p:txBody>
      </p:sp>
      <p:sp>
        <p:nvSpPr>
          <p:cNvPr id="5" name="Объект 2">
            <a:extLst>
              <a:ext uri="{FF2B5EF4-FFF2-40B4-BE49-F238E27FC236}">
                <a16:creationId xmlns:a16="http://schemas.microsoft.com/office/drawing/2014/main" id="{4CFF5902-8A90-33EC-8DE5-A4DF2FC36346}"/>
              </a:ext>
            </a:extLst>
          </p:cNvPr>
          <p:cNvSpPr>
            <a:spLocks noGrp="1"/>
          </p:cNvSpPr>
          <p:nvPr>
            <p:ph idx="1"/>
          </p:nvPr>
        </p:nvSpPr>
        <p:spPr>
          <a:xfrm>
            <a:off x="985942" y="1402111"/>
            <a:ext cx="6593209" cy="5455889"/>
          </a:xfrm>
        </p:spPr>
        <p:txBody>
          <a:bodyPr>
            <a:normAutofit/>
          </a:bodyPr>
          <a:lstStyle/>
          <a:p>
            <a:pPr marL="0" indent="0">
              <a:buNone/>
            </a:pPr>
            <a:r>
              <a:rPr lang="ru-RU" dirty="0">
                <a:latin typeface="Times New Roman" panose="02020603050405020304" pitchFamily="18" charset="0"/>
                <a:cs typeface="Times New Roman" panose="02020603050405020304" pitchFamily="18" charset="0"/>
              </a:rPr>
              <a:t>Создала:</a:t>
            </a:r>
          </a:p>
          <a:p>
            <a:r>
              <a:rPr lang="ru-RU" dirty="0">
                <a:latin typeface="Times New Roman" panose="02020603050405020304" pitchFamily="18" charset="0"/>
                <a:cs typeface="Times New Roman" panose="02020603050405020304" pitchFamily="18" charset="0"/>
              </a:rPr>
              <a:t>БД в </a:t>
            </a:r>
            <a:r>
              <a:rPr lang="en-US" dirty="0">
                <a:latin typeface="Times New Roman" panose="02020603050405020304" pitchFamily="18" charset="0"/>
                <a:cs typeface="Times New Roman" panose="02020603050405020304" pitchFamily="18" charset="0"/>
              </a:rPr>
              <a:t>SSMS</a:t>
            </a:r>
            <a:endParaRPr lang="ru-RU" dirty="0">
              <a:latin typeface="Times New Roman" panose="02020603050405020304" pitchFamily="18" charset="0"/>
              <a:cs typeface="Times New Roman" panose="02020603050405020304" pitchFamily="18" charset="0"/>
            </a:endParaRPr>
          </a:p>
          <a:p>
            <a:r>
              <a:rPr lang="ru-RU" dirty="0">
                <a:latin typeface="Times New Roman" panose="02020603050405020304" pitchFamily="18" charset="0"/>
                <a:cs typeface="Times New Roman" panose="02020603050405020304" pitchFamily="18" charset="0"/>
              </a:rPr>
              <a:t>Таблицы и ограничение целостности</a:t>
            </a:r>
          </a:p>
          <a:p>
            <a:pPr marL="0" indent="0">
              <a:buNone/>
            </a:pPr>
            <a:r>
              <a:rPr lang="ru-RU" dirty="0">
                <a:latin typeface="Times New Roman" panose="02020603050405020304" pitchFamily="18" charset="0"/>
                <a:cs typeface="Times New Roman" panose="02020603050405020304" pitchFamily="18" charset="0"/>
              </a:rPr>
              <a:t>Заполнила:</a:t>
            </a:r>
          </a:p>
          <a:p>
            <a:r>
              <a:rPr lang="ru-RU" dirty="0">
                <a:latin typeface="Times New Roman" panose="02020603050405020304" pitchFamily="18" charset="0"/>
                <a:cs typeface="Times New Roman" panose="02020603050405020304" pitchFamily="18" charset="0"/>
              </a:rPr>
              <a:t>Таблицы демонстрационными данными</a:t>
            </a:r>
            <a:endParaRPr lang="en-US" dirty="0">
              <a:latin typeface="Times New Roman" panose="02020603050405020304" pitchFamily="18" charset="0"/>
              <a:cs typeface="Times New Roman" panose="02020603050405020304" pitchFamily="18" charset="0"/>
            </a:endParaRPr>
          </a:p>
          <a:p>
            <a:pPr marL="0" indent="0">
              <a:buNone/>
            </a:pPr>
            <a:r>
              <a:rPr lang="ru-RU" dirty="0">
                <a:latin typeface="Times New Roman" panose="02020603050405020304" pitchFamily="18" charset="0"/>
                <a:cs typeface="Times New Roman" panose="02020603050405020304" pitchFamily="18" charset="0"/>
              </a:rPr>
              <a:t>Проверила:</a:t>
            </a:r>
          </a:p>
          <a:p>
            <a:r>
              <a:rPr lang="ru-RU" dirty="0">
                <a:latin typeface="Times New Roman" panose="02020603050405020304" pitchFamily="18" charset="0"/>
                <a:cs typeface="Times New Roman" panose="02020603050405020304" pitchFamily="18" charset="0"/>
              </a:rPr>
              <a:t>Целостность данных</a:t>
            </a:r>
          </a:p>
        </p:txBody>
      </p:sp>
      <p:pic>
        <p:nvPicPr>
          <p:cNvPr id="7" name="Рисунок 6">
            <a:extLst>
              <a:ext uri="{FF2B5EF4-FFF2-40B4-BE49-F238E27FC236}">
                <a16:creationId xmlns:a16="http://schemas.microsoft.com/office/drawing/2014/main" id="{152FC63F-E370-4E7C-8242-A4E17D477E47}"/>
              </a:ext>
            </a:extLst>
          </p:cNvPr>
          <p:cNvPicPr>
            <a:picLocks noChangeAspect="1"/>
          </p:cNvPicPr>
          <p:nvPr/>
        </p:nvPicPr>
        <p:blipFill>
          <a:blip r:embed="rId2"/>
          <a:stretch>
            <a:fillRect/>
          </a:stretch>
        </p:blipFill>
        <p:spPr>
          <a:xfrm>
            <a:off x="5786015" y="1802433"/>
            <a:ext cx="4061460" cy="1576070"/>
          </a:xfrm>
          <a:prstGeom prst="rect">
            <a:avLst/>
          </a:prstGeom>
        </p:spPr>
      </p:pic>
      <p:pic>
        <p:nvPicPr>
          <p:cNvPr id="8" name="Рисунок 7">
            <a:extLst>
              <a:ext uri="{FF2B5EF4-FFF2-40B4-BE49-F238E27FC236}">
                <a16:creationId xmlns:a16="http://schemas.microsoft.com/office/drawing/2014/main" id="{C5546CA6-00AF-5E58-5E96-3FB5D5872635}"/>
              </a:ext>
            </a:extLst>
          </p:cNvPr>
          <p:cNvPicPr>
            <a:picLocks noChangeAspect="1"/>
          </p:cNvPicPr>
          <p:nvPr/>
        </p:nvPicPr>
        <p:blipFill>
          <a:blip r:embed="rId3"/>
          <a:stretch>
            <a:fillRect/>
          </a:stretch>
        </p:blipFill>
        <p:spPr>
          <a:xfrm>
            <a:off x="6583799" y="3378503"/>
            <a:ext cx="3263676" cy="2610081"/>
          </a:xfrm>
          <a:prstGeom prst="rect">
            <a:avLst/>
          </a:prstGeom>
        </p:spPr>
      </p:pic>
    </p:spTree>
    <p:extLst>
      <p:ext uri="{BB962C8B-B14F-4D97-AF65-F5344CB8AC3E}">
        <p14:creationId xmlns:p14="http://schemas.microsoft.com/office/powerpoint/2010/main" val="1997891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3D21D-3748-6BF5-F306-4DF0C8688CE1}"/>
            </a:ext>
          </a:extLst>
        </p:cNvPr>
        <p:cNvGrpSpPr/>
        <p:nvPr/>
      </p:nvGrpSpPr>
      <p:grpSpPr>
        <a:xfrm>
          <a:off x="0" y="0"/>
          <a:ext cx="0" cy="0"/>
          <a:chOff x="0" y="0"/>
          <a:chExt cx="0" cy="0"/>
        </a:xfrm>
      </p:grpSpPr>
      <p:sp>
        <p:nvSpPr>
          <p:cNvPr id="4" name="Заголовок 1">
            <a:extLst>
              <a:ext uri="{FF2B5EF4-FFF2-40B4-BE49-F238E27FC236}">
                <a16:creationId xmlns:a16="http://schemas.microsoft.com/office/drawing/2014/main" id="{6B0E9068-D6A6-5B70-ED4D-43D424F63FFD}"/>
              </a:ext>
            </a:extLst>
          </p:cNvPr>
          <p:cNvSpPr>
            <a:spLocks noGrp="1"/>
          </p:cNvSpPr>
          <p:nvPr>
            <p:ph type="title"/>
          </p:nvPr>
        </p:nvSpPr>
        <p:spPr>
          <a:xfrm>
            <a:off x="269506" y="149513"/>
            <a:ext cx="11846293" cy="1325563"/>
          </a:xfrm>
        </p:spPr>
        <p:txBody>
          <a:bodyPr>
            <a:normAutofit/>
          </a:bodyPr>
          <a:lstStyle/>
          <a:p>
            <a:pPr algn="ctr"/>
            <a:r>
              <a:rPr lang="ru-RU" sz="3200" b="1" dirty="0">
                <a:latin typeface="Times New Roman" panose="02020603050405020304" pitchFamily="18" charset="0"/>
                <a:cs typeface="Times New Roman" panose="02020603050405020304" pitchFamily="18" charset="0"/>
              </a:rPr>
              <a:t>РЕАЛИЗАЦИЯ УРОВНЕЙ ДОСТУПА ДЛЯ РАЗЛИЧНЫХ КАТЕГОРИЙ ПОЛЬЗОВАТЕЛЕЙ</a:t>
            </a:r>
            <a:endParaRPr lang="ru-RU" sz="3200" dirty="0">
              <a:latin typeface="Times New Roman" panose="02020603050405020304" pitchFamily="18" charset="0"/>
              <a:cs typeface="Times New Roman" panose="02020603050405020304" pitchFamily="18" charset="0"/>
            </a:endParaRPr>
          </a:p>
        </p:txBody>
      </p:sp>
      <p:sp>
        <p:nvSpPr>
          <p:cNvPr id="5" name="Объект 2">
            <a:extLst>
              <a:ext uri="{FF2B5EF4-FFF2-40B4-BE49-F238E27FC236}">
                <a16:creationId xmlns:a16="http://schemas.microsoft.com/office/drawing/2014/main" id="{CFCA0970-2CC1-EEAC-3F1D-6B909E8BB844}"/>
              </a:ext>
            </a:extLst>
          </p:cNvPr>
          <p:cNvSpPr>
            <a:spLocks noGrp="1"/>
          </p:cNvSpPr>
          <p:nvPr>
            <p:ph idx="1"/>
          </p:nvPr>
        </p:nvSpPr>
        <p:spPr>
          <a:xfrm>
            <a:off x="1099064" y="1252598"/>
            <a:ext cx="4996936" cy="5455889"/>
          </a:xfrm>
        </p:spPr>
        <p:txBody>
          <a:bodyPr>
            <a:normAutofit/>
          </a:bodyPr>
          <a:lstStyle/>
          <a:p>
            <a:pPr marL="0" indent="0">
              <a:buNone/>
            </a:pPr>
            <a:r>
              <a:rPr lang="ru-RU" dirty="0">
                <a:latin typeface="Times New Roman" panose="02020603050405020304" pitchFamily="18" charset="0"/>
                <a:cs typeface="Times New Roman" panose="02020603050405020304" pitchFamily="18" charset="0"/>
              </a:rPr>
              <a:t>Выделила:</a:t>
            </a:r>
          </a:p>
          <a:p>
            <a:r>
              <a:rPr lang="ru-RU" dirty="0">
                <a:latin typeface="Times New Roman" panose="02020603050405020304" pitchFamily="18" charset="0"/>
                <a:cs typeface="Times New Roman" panose="02020603050405020304" pitchFamily="18" charset="0"/>
              </a:rPr>
              <a:t>Роли </a:t>
            </a:r>
          </a:p>
          <a:p>
            <a:r>
              <a:rPr lang="ru-RU" dirty="0">
                <a:latin typeface="Times New Roman" panose="02020603050405020304" pitchFamily="18" charset="0"/>
                <a:cs typeface="Times New Roman" panose="02020603050405020304" pitchFamily="18" charset="0"/>
              </a:rPr>
              <a:t>Защита от несанкционированного доступа через прямое создание окон</a:t>
            </a:r>
            <a:endParaRPr lang="ru-RU" sz="1400" dirty="0">
              <a:latin typeface="Times New Roman" panose="02020603050405020304" pitchFamily="18" charset="0"/>
              <a:cs typeface="Times New Roman" panose="02020603050405020304" pitchFamily="18" charset="0"/>
            </a:endParaRPr>
          </a:p>
        </p:txBody>
      </p:sp>
      <p:pic>
        <p:nvPicPr>
          <p:cNvPr id="3" name="Рисунок 2">
            <a:extLst>
              <a:ext uri="{FF2B5EF4-FFF2-40B4-BE49-F238E27FC236}">
                <a16:creationId xmlns:a16="http://schemas.microsoft.com/office/drawing/2014/main" id="{233819D2-481C-6765-1EA1-E22153A14E91}"/>
              </a:ext>
            </a:extLst>
          </p:cNvPr>
          <p:cNvPicPr>
            <a:picLocks noChangeAspect="1"/>
          </p:cNvPicPr>
          <p:nvPr/>
        </p:nvPicPr>
        <p:blipFill>
          <a:blip r:embed="rId3"/>
          <a:stretch>
            <a:fillRect/>
          </a:stretch>
        </p:blipFill>
        <p:spPr>
          <a:xfrm>
            <a:off x="6192652" y="1620814"/>
            <a:ext cx="4529826" cy="1808186"/>
          </a:xfrm>
          <a:prstGeom prst="rect">
            <a:avLst/>
          </a:prstGeom>
        </p:spPr>
      </p:pic>
    </p:spTree>
    <p:extLst>
      <p:ext uri="{BB962C8B-B14F-4D97-AF65-F5344CB8AC3E}">
        <p14:creationId xmlns:p14="http://schemas.microsoft.com/office/powerpoint/2010/main" val="1344123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94E1B-D6FF-4E35-138A-A9852ADD842C}"/>
            </a:ext>
          </a:extLst>
        </p:cNvPr>
        <p:cNvGrpSpPr/>
        <p:nvPr/>
      </p:nvGrpSpPr>
      <p:grpSpPr>
        <a:xfrm>
          <a:off x="0" y="0"/>
          <a:ext cx="0" cy="0"/>
          <a:chOff x="0" y="0"/>
          <a:chExt cx="0" cy="0"/>
        </a:xfrm>
      </p:grpSpPr>
      <p:sp>
        <p:nvSpPr>
          <p:cNvPr id="4" name="Заголовок 1">
            <a:extLst>
              <a:ext uri="{FF2B5EF4-FFF2-40B4-BE49-F238E27FC236}">
                <a16:creationId xmlns:a16="http://schemas.microsoft.com/office/drawing/2014/main" id="{BD097D33-D8CF-8D47-0926-540C9343DC4C}"/>
              </a:ext>
            </a:extLst>
          </p:cNvPr>
          <p:cNvSpPr>
            <a:spLocks noGrp="1"/>
          </p:cNvSpPr>
          <p:nvPr>
            <p:ph type="title"/>
          </p:nvPr>
        </p:nvSpPr>
        <p:spPr>
          <a:xfrm>
            <a:off x="269506" y="149513"/>
            <a:ext cx="11846293" cy="1325563"/>
          </a:xfrm>
        </p:spPr>
        <p:txBody>
          <a:bodyPr/>
          <a:lstStyle/>
          <a:p>
            <a:pPr algn="ctr"/>
            <a:r>
              <a:rPr lang="ru-RU" b="1" dirty="0">
                <a:latin typeface="Times New Roman" panose="02020603050405020304" pitchFamily="18" charset="0"/>
                <a:cs typeface="Times New Roman" panose="02020603050405020304" pitchFamily="18" charset="0"/>
              </a:rPr>
              <a:t>СОЗДАНИЕ ЗАПРОСОВ И ОТЧЁТОВ В СООТВЕТСТВИИ С ЗАДАНИЕМ</a:t>
            </a:r>
          </a:p>
        </p:txBody>
      </p:sp>
      <p:sp>
        <p:nvSpPr>
          <p:cNvPr id="5" name="Объект 2">
            <a:extLst>
              <a:ext uri="{FF2B5EF4-FFF2-40B4-BE49-F238E27FC236}">
                <a16:creationId xmlns:a16="http://schemas.microsoft.com/office/drawing/2014/main" id="{A59B0748-CCAC-1A8B-F821-8473B7F7FD84}"/>
              </a:ext>
            </a:extLst>
          </p:cNvPr>
          <p:cNvSpPr>
            <a:spLocks noGrp="1"/>
          </p:cNvSpPr>
          <p:nvPr>
            <p:ph idx="1"/>
          </p:nvPr>
        </p:nvSpPr>
        <p:spPr>
          <a:xfrm>
            <a:off x="2287965" y="1705274"/>
            <a:ext cx="6593208" cy="5455889"/>
          </a:xfrm>
        </p:spPr>
        <p:txBody>
          <a:bodyPr>
            <a:normAutofit/>
          </a:bodyPr>
          <a:lstStyle/>
          <a:p>
            <a:pPr marL="0" indent="0">
              <a:buNone/>
            </a:pPr>
            <a:r>
              <a:rPr lang="ru-RU" dirty="0">
                <a:latin typeface="Times New Roman" panose="02020603050405020304" pitchFamily="18" charset="0"/>
                <a:cs typeface="Times New Roman" panose="02020603050405020304" pitchFamily="18" charset="0"/>
              </a:rPr>
              <a:t>Разработала:</a:t>
            </a:r>
          </a:p>
          <a:p>
            <a:r>
              <a:rPr lang="ru-RU" dirty="0">
                <a:latin typeface="Times New Roman" panose="02020603050405020304" pitchFamily="18" charset="0"/>
                <a:cs typeface="Times New Roman" panose="02020603050405020304" pitchFamily="18" charset="0"/>
              </a:rPr>
              <a:t>Основные запросы</a:t>
            </a:r>
          </a:p>
          <a:p>
            <a:r>
              <a:rPr lang="ru-RU" dirty="0">
                <a:latin typeface="Times New Roman" panose="02020603050405020304" pitchFamily="18" charset="0"/>
                <a:cs typeface="Times New Roman" panose="02020603050405020304" pitchFamily="18" charset="0"/>
              </a:rPr>
              <a:t>Отчёты в приложении</a:t>
            </a:r>
          </a:p>
          <a:p>
            <a:r>
              <a:rPr lang="ru-RU" dirty="0">
                <a:latin typeface="Times New Roman" panose="02020603050405020304" pitchFamily="18" charset="0"/>
                <a:cs typeface="Times New Roman" panose="02020603050405020304" pitchFamily="18" charset="0"/>
              </a:rPr>
              <a:t>Экспорт отчётов в </a:t>
            </a:r>
            <a:r>
              <a:rPr lang="en-US" dirty="0" err="1">
                <a:latin typeface="Times New Roman" panose="02020603050405020304" pitchFamily="18" charset="0"/>
                <a:cs typeface="Times New Roman" panose="02020603050405020304" pitchFamily="18" charset="0"/>
              </a:rPr>
              <a:t>Exel</a:t>
            </a:r>
            <a:endParaRPr lang="ru-RU" dirty="0">
              <a:latin typeface="Times New Roman" panose="02020603050405020304" pitchFamily="18" charset="0"/>
              <a:cs typeface="Times New Roman" panose="02020603050405020304" pitchFamily="18" charset="0"/>
            </a:endParaRPr>
          </a:p>
          <a:p>
            <a:pPr marL="0" indent="0">
              <a:buNone/>
            </a:pPr>
            <a:endParaRPr lang="ru-RU" dirty="0"/>
          </a:p>
        </p:txBody>
      </p:sp>
      <p:pic>
        <p:nvPicPr>
          <p:cNvPr id="8" name="Рисунок 7">
            <a:extLst>
              <a:ext uri="{FF2B5EF4-FFF2-40B4-BE49-F238E27FC236}">
                <a16:creationId xmlns:a16="http://schemas.microsoft.com/office/drawing/2014/main" id="{9F2F75FE-7CC0-FF1B-2FCE-8D63E19B2BEC}"/>
              </a:ext>
            </a:extLst>
          </p:cNvPr>
          <p:cNvPicPr>
            <a:picLocks noChangeAspect="1"/>
          </p:cNvPicPr>
          <p:nvPr/>
        </p:nvPicPr>
        <p:blipFill rotWithShape="1">
          <a:blip r:embed="rId3"/>
          <a:srcRect l="67646" t="5698" b="78723"/>
          <a:stretch>
            <a:fillRect/>
          </a:stretch>
        </p:blipFill>
        <p:spPr bwMode="auto">
          <a:xfrm>
            <a:off x="6268953" y="1475076"/>
            <a:ext cx="3635082" cy="949706"/>
          </a:xfrm>
          <a:prstGeom prst="rect">
            <a:avLst/>
          </a:prstGeom>
          <a:ln>
            <a:noFill/>
          </a:ln>
          <a:extLst>
            <a:ext uri="{53640926-AAD7-44D8-BBD7-CCE9431645EC}">
              <a14:shadowObscured xmlns:a14="http://schemas.microsoft.com/office/drawing/2010/main"/>
            </a:ext>
          </a:extLst>
        </p:spPr>
      </p:pic>
      <p:pic>
        <p:nvPicPr>
          <p:cNvPr id="9" name="Рисунок 8">
            <a:extLst>
              <a:ext uri="{FF2B5EF4-FFF2-40B4-BE49-F238E27FC236}">
                <a16:creationId xmlns:a16="http://schemas.microsoft.com/office/drawing/2014/main" id="{82EFE8CC-6250-924C-B6E3-6F88B840D9A4}"/>
              </a:ext>
            </a:extLst>
          </p:cNvPr>
          <p:cNvPicPr>
            <a:picLocks noChangeAspect="1"/>
          </p:cNvPicPr>
          <p:nvPr/>
        </p:nvPicPr>
        <p:blipFill>
          <a:blip r:embed="rId4"/>
          <a:stretch>
            <a:fillRect/>
          </a:stretch>
        </p:blipFill>
        <p:spPr>
          <a:xfrm>
            <a:off x="6096000" y="2805597"/>
            <a:ext cx="3635082" cy="1174025"/>
          </a:xfrm>
          <a:prstGeom prst="rect">
            <a:avLst/>
          </a:prstGeom>
        </p:spPr>
      </p:pic>
    </p:spTree>
    <p:extLst>
      <p:ext uri="{BB962C8B-B14F-4D97-AF65-F5344CB8AC3E}">
        <p14:creationId xmlns:p14="http://schemas.microsoft.com/office/powerpoint/2010/main" val="37250514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E2A66-E82A-5958-A301-847A5E108C86}"/>
            </a:ext>
          </a:extLst>
        </p:cNvPr>
        <p:cNvGrpSpPr/>
        <p:nvPr/>
      </p:nvGrpSpPr>
      <p:grpSpPr>
        <a:xfrm>
          <a:off x="0" y="0"/>
          <a:ext cx="0" cy="0"/>
          <a:chOff x="0" y="0"/>
          <a:chExt cx="0" cy="0"/>
        </a:xfrm>
      </p:grpSpPr>
      <p:sp>
        <p:nvSpPr>
          <p:cNvPr id="4" name="Заголовок 1">
            <a:extLst>
              <a:ext uri="{FF2B5EF4-FFF2-40B4-BE49-F238E27FC236}">
                <a16:creationId xmlns:a16="http://schemas.microsoft.com/office/drawing/2014/main" id="{74F5A8F3-5CA3-2934-13C4-825B74DB33FC}"/>
              </a:ext>
            </a:extLst>
          </p:cNvPr>
          <p:cNvSpPr>
            <a:spLocks noGrp="1"/>
          </p:cNvSpPr>
          <p:nvPr>
            <p:ph type="title"/>
          </p:nvPr>
        </p:nvSpPr>
        <p:spPr>
          <a:xfrm>
            <a:off x="269506" y="149513"/>
            <a:ext cx="11846293" cy="1325563"/>
          </a:xfrm>
        </p:spPr>
        <p:txBody>
          <a:bodyPr>
            <a:normAutofit/>
          </a:bodyPr>
          <a:lstStyle/>
          <a:p>
            <a:pPr algn="ctr"/>
            <a:r>
              <a:rPr lang="ru-RU" sz="2800" b="1" dirty="0">
                <a:latin typeface="Times New Roman" panose="02020603050405020304" pitchFamily="18" charset="0"/>
                <a:cs typeface="Times New Roman" panose="02020603050405020304" pitchFamily="18" charset="0"/>
              </a:rPr>
              <a:t>СОЗДАНИЕ И ОБОСНОВАНИЕ ГРУПП ПОЛЬЗОВАТЕЛЕЙ И ПРИНЦИПОВ РЕГИСТРАЦИИ И СИСТЕМЫ ПАРОЛЕЙ</a:t>
            </a:r>
            <a:endParaRPr lang="ru-RU" sz="2800" dirty="0">
              <a:latin typeface="Times New Roman" panose="02020603050405020304" pitchFamily="18" charset="0"/>
              <a:cs typeface="Times New Roman" panose="02020603050405020304" pitchFamily="18" charset="0"/>
            </a:endParaRPr>
          </a:p>
        </p:txBody>
      </p:sp>
      <p:sp>
        <p:nvSpPr>
          <p:cNvPr id="5" name="Объект 2">
            <a:extLst>
              <a:ext uri="{FF2B5EF4-FFF2-40B4-BE49-F238E27FC236}">
                <a16:creationId xmlns:a16="http://schemas.microsoft.com/office/drawing/2014/main" id="{F48B0C4B-E9F4-EA9A-502B-A186B1E92B31}"/>
              </a:ext>
            </a:extLst>
          </p:cNvPr>
          <p:cNvSpPr>
            <a:spLocks noGrp="1"/>
          </p:cNvSpPr>
          <p:nvPr>
            <p:ph idx="1"/>
          </p:nvPr>
        </p:nvSpPr>
        <p:spPr>
          <a:xfrm>
            <a:off x="1099064" y="1252598"/>
            <a:ext cx="6593208" cy="5455889"/>
          </a:xfrm>
        </p:spPr>
        <p:txBody>
          <a:bodyPr>
            <a:normAutofit/>
          </a:bodyPr>
          <a:lstStyle/>
          <a:p>
            <a:pPr marL="0" indent="0">
              <a:buNone/>
            </a:pPr>
            <a:r>
              <a:rPr lang="ru-RU" dirty="0">
                <a:latin typeface="Times New Roman" panose="02020603050405020304" pitchFamily="18" charset="0"/>
                <a:cs typeface="Times New Roman" panose="02020603050405020304" pitchFamily="18" charset="0"/>
              </a:rPr>
              <a:t>Выделены:</a:t>
            </a:r>
          </a:p>
          <a:p>
            <a:r>
              <a:rPr lang="ru-RU" dirty="0">
                <a:latin typeface="Times New Roman" panose="02020603050405020304" pitchFamily="18" charset="0"/>
                <a:cs typeface="Times New Roman" panose="02020603050405020304" pitchFamily="18" charset="0"/>
              </a:rPr>
              <a:t>Роли </a:t>
            </a:r>
          </a:p>
          <a:p>
            <a:pPr marL="0" indent="0">
              <a:buNone/>
            </a:pPr>
            <a:r>
              <a:rPr lang="ru-RU" dirty="0">
                <a:latin typeface="Times New Roman" panose="02020603050405020304" pitchFamily="18" charset="0"/>
                <a:cs typeface="Times New Roman" panose="02020603050405020304" pitchFamily="18" charset="0"/>
              </a:rPr>
              <a:t>Созданы:</a:t>
            </a:r>
          </a:p>
          <a:p>
            <a:r>
              <a:rPr lang="ru-RU" dirty="0">
                <a:latin typeface="Times New Roman" panose="02020603050405020304" pitchFamily="18" charset="0"/>
                <a:cs typeface="Times New Roman" panose="02020603050405020304" pitchFamily="18" charset="0"/>
              </a:rPr>
              <a:t>Демонстрационные учётные записи</a:t>
            </a:r>
          </a:p>
          <a:p>
            <a:r>
              <a:rPr lang="ru-RU" dirty="0">
                <a:latin typeface="Times New Roman" panose="02020603050405020304" pitchFamily="18" charset="0"/>
                <a:cs typeface="Times New Roman" panose="02020603050405020304" pitchFamily="18" charset="0"/>
              </a:rPr>
              <a:t>Техническая реализация уровней</a:t>
            </a:r>
          </a:p>
          <a:p>
            <a:r>
              <a:rPr lang="ru-RU" dirty="0">
                <a:latin typeface="Times New Roman" panose="02020603050405020304" pitchFamily="18" charset="0"/>
                <a:cs typeface="Times New Roman" panose="02020603050405020304" pitchFamily="18" charset="0"/>
              </a:rPr>
              <a:t>Ограничение функциональности внутри окон для ролей</a:t>
            </a:r>
          </a:p>
          <a:p>
            <a:endParaRPr lang="ru-RU" dirty="0">
              <a:latin typeface="Times New Roman" panose="02020603050405020304" pitchFamily="18" charset="0"/>
              <a:cs typeface="Times New Roman" panose="02020603050405020304" pitchFamily="18" charset="0"/>
            </a:endParaRPr>
          </a:p>
          <a:p>
            <a:pPr marL="0" indent="0">
              <a:buNone/>
            </a:pPr>
            <a:endParaRPr lang="ru-RU" dirty="0"/>
          </a:p>
        </p:txBody>
      </p:sp>
      <p:pic>
        <p:nvPicPr>
          <p:cNvPr id="10" name="Рисунок 9">
            <a:extLst>
              <a:ext uri="{FF2B5EF4-FFF2-40B4-BE49-F238E27FC236}">
                <a16:creationId xmlns:a16="http://schemas.microsoft.com/office/drawing/2014/main" id="{C9DFAF61-84A5-E766-A11F-156E7E0C3406}"/>
              </a:ext>
            </a:extLst>
          </p:cNvPr>
          <p:cNvPicPr>
            <a:picLocks noChangeAspect="1"/>
          </p:cNvPicPr>
          <p:nvPr/>
        </p:nvPicPr>
        <p:blipFill>
          <a:blip r:embed="rId3"/>
          <a:stretch>
            <a:fillRect/>
          </a:stretch>
        </p:blipFill>
        <p:spPr>
          <a:xfrm>
            <a:off x="9347517" y="1252598"/>
            <a:ext cx="1497965" cy="1241425"/>
          </a:xfrm>
          <a:prstGeom prst="rect">
            <a:avLst/>
          </a:prstGeom>
        </p:spPr>
      </p:pic>
      <p:pic>
        <p:nvPicPr>
          <p:cNvPr id="11" name="Рисунок 10">
            <a:extLst>
              <a:ext uri="{FF2B5EF4-FFF2-40B4-BE49-F238E27FC236}">
                <a16:creationId xmlns:a16="http://schemas.microsoft.com/office/drawing/2014/main" id="{D4D6BEE8-CFD8-292A-5C57-639E97598132}"/>
              </a:ext>
            </a:extLst>
          </p:cNvPr>
          <p:cNvPicPr>
            <a:picLocks noChangeAspect="1"/>
          </p:cNvPicPr>
          <p:nvPr/>
        </p:nvPicPr>
        <p:blipFill>
          <a:blip r:embed="rId4"/>
          <a:stretch>
            <a:fillRect/>
          </a:stretch>
        </p:blipFill>
        <p:spPr>
          <a:xfrm>
            <a:off x="6877050" y="1229724"/>
            <a:ext cx="2502157" cy="1509652"/>
          </a:xfrm>
          <a:prstGeom prst="rect">
            <a:avLst/>
          </a:prstGeom>
        </p:spPr>
      </p:pic>
      <p:pic>
        <p:nvPicPr>
          <p:cNvPr id="12" name="Рисунок 11">
            <a:extLst>
              <a:ext uri="{FF2B5EF4-FFF2-40B4-BE49-F238E27FC236}">
                <a16:creationId xmlns:a16="http://schemas.microsoft.com/office/drawing/2014/main" id="{904B2B44-7F70-DC2B-341A-52CD510D37CD}"/>
              </a:ext>
            </a:extLst>
          </p:cNvPr>
          <p:cNvPicPr>
            <a:picLocks noChangeAspect="1"/>
          </p:cNvPicPr>
          <p:nvPr/>
        </p:nvPicPr>
        <p:blipFill>
          <a:blip r:embed="rId5"/>
          <a:stretch>
            <a:fillRect/>
          </a:stretch>
        </p:blipFill>
        <p:spPr>
          <a:xfrm>
            <a:off x="8403343" y="2516897"/>
            <a:ext cx="2502157" cy="1676297"/>
          </a:xfrm>
          <a:prstGeom prst="rect">
            <a:avLst/>
          </a:prstGeom>
        </p:spPr>
      </p:pic>
      <p:pic>
        <p:nvPicPr>
          <p:cNvPr id="13" name="Рисунок 12">
            <a:extLst>
              <a:ext uri="{FF2B5EF4-FFF2-40B4-BE49-F238E27FC236}">
                <a16:creationId xmlns:a16="http://schemas.microsoft.com/office/drawing/2014/main" id="{0C4F41BE-2BDD-D13B-54BE-3D74C695EE9D}"/>
              </a:ext>
            </a:extLst>
          </p:cNvPr>
          <p:cNvPicPr>
            <a:picLocks noChangeAspect="1"/>
          </p:cNvPicPr>
          <p:nvPr/>
        </p:nvPicPr>
        <p:blipFill>
          <a:blip r:embed="rId6"/>
          <a:stretch>
            <a:fillRect/>
          </a:stretch>
        </p:blipFill>
        <p:spPr>
          <a:xfrm>
            <a:off x="8543300" y="4193194"/>
            <a:ext cx="2362200" cy="1602105"/>
          </a:xfrm>
          <a:prstGeom prst="rect">
            <a:avLst/>
          </a:prstGeom>
        </p:spPr>
      </p:pic>
      <p:pic>
        <p:nvPicPr>
          <p:cNvPr id="14" name="Рисунок 13">
            <a:extLst>
              <a:ext uri="{FF2B5EF4-FFF2-40B4-BE49-F238E27FC236}">
                <a16:creationId xmlns:a16="http://schemas.microsoft.com/office/drawing/2014/main" id="{5A24033B-F584-A142-F4A9-B0D0C985D63E}"/>
              </a:ext>
            </a:extLst>
          </p:cNvPr>
          <p:cNvPicPr>
            <a:picLocks noChangeAspect="1"/>
          </p:cNvPicPr>
          <p:nvPr/>
        </p:nvPicPr>
        <p:blipFill>
          <a:blip r:embed="rId7"/>
          <a:stretch>
            <a:fillRect/>
          </a:stretch>
        </p:blipFill>
        <p:spPr>
          <a:xfrm>
            <a:off x="4777622" y="3980542"/>
            <a:ext cx="3695700" cy="2005965"/>
          </a:xfrm>
          <a:prstGeom prst="rect">
            <a:avLst/>
          </a:prstGeom>
        </p:spPr>
      </p:pic>
    </p:spTree>
    <p:extLst>
      <p:ext uri="{BB962C8B-B14F-4D97-AF65-F5344CB8AC3E}">
        <p14:creationId xmlns:p14="http://schemas.microsoft.com/office/powerpoint/2010/main" val="1995251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3BD94-B132-9101-6383-49C039FD7438}"/>
            </a:ext>
          </a:extLst>
        </p:cNvPr>
        <p:cNvGrpSpPr/>
        <p:nvPr/>
      </p:nvGrpSpPr>
      <p:grpSpPr>
        <a:xfrm>
          <a:off x="0" y="0"/>
          <a:ext cx="0" cy="0"/>
          <a:chOff x="0" y="0"/>
          <a:chExt cx="0" cy="0"/>
        </a:xfrm>
      </p:grpSpPr>
      <p:sp>
        <p:nvSpPr>
          <p:cNvPr id="4" name="Заголовок 1">
            <a:extLst>
              <a:ext uri="{FF2B5EF4-FFF2-40B4-BE49-F238E27FC236}">
                <a16:creationId xmlns:a16="http://schemas.microsoft.com/office/drawing/2014/main" id="{374B1E05-D90E-8AC1-5162-3F8E4C68A3B4}"/>
              </a:ext>
            </a:extLst>
          </p:cNvPr>
          <p:cNvSpPr>
            <a:spLocks noGrp="1"/>
          </p:cNvSpPr>
          <p:nvPr>
            <p:ph type="title"/>
          </p:nvPr>
        </p:nvSpPr>
        <p:spPr>
          <a:xfrm>
            <a:off x="172853" y="252010"/>
            <a:ext cx="11846293" cy="1325563"/>
          </a:xfrm>
        </p:spPr>
        <p:txBody>
          <a:bodyPr>
            <a:normAutofit fontScale="90000"/>
          </a:bodyPr>
          <a:lstStyle/>
          <a:p>
            <a:pPr algn="ctr"/>
            <a:r>
              <a:rPr lang="ru-RU" sz="2800" b="1" dirty="0">
                <a:latin typeface="Times New Roman" panose="02020603050405020304" pitchFamily="18" charset="0"/>
                <a:cs typeface="Times New Roman" panose="02020603050405020304" pitchFamily="18" charset="0"/>
              </a:rPr>
              <a:t>ВОССТАНОВЛЕНИЕ РЕЗЕРВНОГО КОПИРОВАНИЯ БД И ВОССТАНОВЛЕНИЕ СОСТОЯНИЯ БД</a:t>
            </a:r>
            <a:br>
              <a:rPr lang="ru-RU" sz="2800" b="1" dirty="0">
                <a:latin typeface="Times New Roman" panose="02020603050405020304" pitchFamily="18" charset="0"/>
                <a:cs typeface="Times New Roman" panose="02020603050405020304" pitchFamily="18" charset="0"/>
              </a:rPr>
            </a:br>
            <a:r>
              <a:rPr lang="ru-RU" sz="2800" b="1" dirty="0">
                <a:latin typeface="Times New Roman" panose="02020603050405020304" pitchFamily="18" charset="0"/>
                <a:cs typeface="Times New Roman" panose="02020603050405020304" pitchFamily="18" charset="0"/>
              </a:rPr>
              <a:t> НА ЗАДАННУЮ ДАТУ</a:t>
            </a:r>
            <a:endParaRPr lang="ru-RU" sz="2800" dirty="0">
              <a:latin typeface="Times New Roman" panose="02020603050405020304" pitchFamily="18" charset="0"/>
              <a:cs typeface="Times New Roman" panose="02020603050405020304" pitchFamily="18" charset="0"/>
            </a:endParaRPr>
          </a:p>
        </p:txBody>
      </p:sp>
      <p:sp>
        <p:nvSpPr>
          <p:cNvPr id="5" name="Объект 2">
            <a:extLst>
              <a:ext uri="{FF2B5EF4-FFF2-40B4-BE49-F238E27FC236}">
                <a16:creationId xmlns:a16="http://schemas.microsoft.com/office/drawing/2014/main" id="{43B57C75-4D68-C521-A1A7-EF5F7A9FB21E}"/>
              </a:ext>
            </a:extLst>
          </p:cNvPr>
          <p:cNvSpPr>
            <a:spLocks noGrp="1"/>
          </p:cNvSpPr>
          <p:nvPr>
            <p:ph idx="1"/>
          </p:nvPr>
        </p:nvSpPr>
        <p:spPr>
          <a:xfrm>
            <a:off x="1099064" y="1252598"/>
            <a:ext cx="6593208" cy="5455889"/>
          </a:xfrm>
        </p:spPr>
        <p:txBody>
          <a:bodyPr>
            <a:normAutofit/>
          </a:bodyPr>
          <a:lstStyle/>
          <a:p>
            <a:pPr marL="0" indent="0">
              <a:buNone/>
            </a:pPr>
            <a:r>
              <a:rPr lang="ru-RU" dirty="0">
                <a:latin typeface="Times New Roman" panose="02020603050405020304" pitchFamily="18" charset="0"/>
                <a:cs typeface="Times New Roman" panose="02020603050405020304" pitchFamily="18" charset="0"/>
              </a:rPr>
              <a:t>Выделены:</a:t>
            </a:r>
          </a:p>
          <a:p>
            <a:r>
              <a:rPr lang="ru-RU" dirty="0">
                <a:latin typeface="Times New Roman" panose="02020603050405020304" pitchFamily="18" charset="0"/>
                <a:cs typeface="Times New Roman" panose="02020603050405020304" pitchFamily="18" charset="0"/>
              </a:rPr>
              <a:t>Типы резервного копирования </a:t>
            </a:r>
          </a:p>
          <a:p>
            <a:pPr marL="0" indent="0">
              <a:buNone/>
            </a:pPr>
            <a:r>
              <a:rPr lang="ru-RU" dirty="0">
                <a:latin typeface="Times New Roman" panose="02020603050405020304" pitchFamily="18" charset="0"/>
                <a:cs typeface="Times New Roman" panose="02020603050405020304" pitchFamily="18" charset="0"/>
              </a:rPr>
              <a:t>Созданы:</a:t>
            </a:r>
          </a:p>
          <a:p>
            <a:r>
              <a:rPr lang="ru-RU" dirty="0">
                <a:latin typeface="Times New Roman" panose="02020603050405020304" pitchFamily="18" charset="0"/>
                <a:cs typeface="Times New Roman" panose="02020603050405020304" pitchFamily="18" charset="0"/>
              </a:rPr>
              <a:t>Резервная копия</a:t>
            </a:r>
          </a:p>
          <a:p>
            <a:r>
              <a:rPr lang="ru-RU" dirty="0">
                <a:latin typeface="Times New Roman" panose="02020603050405020304" pitchFamily="18" charset="0"/>
                <a:cs typeface="Times New Roman" panose="02020603050405020304" pitchFamily="18" charset="0"/>
              </a:rPr>
              <a:t>Восстановление БД из резервного копирования</a:t>
            </a:r>
          </a:p>
          <a:p>
            <a:pPr marL="0" indent="0">
              <a:buNone/>
            </a:pPr>
            <a:endParaRPr lang="ru-RU" dirty="0"/>
          </a:p>
        </p:txBody>
      </p:sp>
      <p:pic>
        <p:nvPicPr>
          <p:cNvPr id="2" name="Рисунок 1">
            <a:extLst>
              <a:ext uri="{FF2B5EF4-FFF2-40B4-BE49-F238E27FC236}">
                <a16:creationId xmlns:a16="http://schemas.microsoft.com/office/drawing/2014/main" id="{A794777C-8820-5A23-285A-B6DB79F5D87F}"/>
              </a:ext>
            </a:extLst>
          </p:cNvPr>
          <p:cNvPicPr>
            <a:picLocks noChangeAspect="1"/>
          </p:cNvPicPr>
          <p:nvPr/>
        </p:nvPicPr>
        <p:blipFill>
          <a:blip r:embed="rId3"/>
          <a:stretch>
            <a:fillRect/>
          </a:stretch>
        </p:blipFill>
        <p:spPr>
          <a:xfrm>
            <a:off x="7801731" y="2025332"/>
            <a:ext cx="3291205" cy="2807335"/>
          </a:xfrm>
          <a:prstGeom prst="rect">
            <a:avLst/>
          </a:prstGeom>
        </p:spPr>
      </p:pic>
    </p:spTree>
    <p:extLst>
      <p:ext uri="{BB962C8B-B14F-4D97-AF65-F5344CB8AC3E}">
        <p14:creationId xmlns:p14="http://schemas.microsoft.com/office/powerpoint/2010/main" val="3191583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A497C87-BDAD-6899-9FB3-E2A859D9BB02}"/>
              </a:ext>
            </a:extLst>
          </p:cNvPr>
          <p:cNvSpPr>
            <a:spLocks noGrp="1"/>
          </p:cNvSpPr>
          <p:nvPr>
            <p:ph type="title"/>
          </p:nvPr>
        </p:nvSpPr>
        <p:spPr>
          <a:xfrm>
            <a:off x="-109655" y="-32548"/>
            <a:ext cx="8911687" cy="1280890"/>
          </a:xfrm>
        </p:spPr>
        <p:txBody>
          <a:bodyPr>
            <a:noAutofit/>
          </a:bodyPr>
          <a:lstStyle/>
          <a:p>
            <a:pPr algn="ctr"/>
            <a:r>
              <a:rPr lang="ru-RU" sz="2800" b="1" dirty="0">
                <a:latin typeface="Times New Roman" panose="02020603050405020304" pitchFamily="18" charset="0"/>
                <a:cs typeface="Times New Roman" panose="02020603050405020304" pitchFamily="18" charset="0"/>
              </a:rPr>
              <a:t>СОЗДАНИЕ И ОБОСНОВАНИЕ ГРУПП ПОЛЬЗОВАТЕЛЕЙ И ПРИНЦИПОВ РЕГИСТРАЦИИ И СИСТЕМЫ ПАРОЛЕЙ</a:t>
            </a:r>
            <a:endParaRPr lang="ru-RU" sz="2800"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A86AA307-0DBA-BABA-BE0A-36006D2A1D0F}"/>
              </a:ext>
            </a:extLst>
          </p:cNvPr>
          <p:cNvSpPr>
            <a:spLocks noGrp="1"/>
          </p:cNvSpPr>
          <p:nvPr>
            <p:ph idx="1"/>
          </p:nvPr>
        </p:nvSpPr>
        <p:spPr>
          <a:xfrm>
            <a:off x="4880504" y="1569985"/>
            <a:ext cx="4575159" cy="3777622"/>
          </a:xfrm>
        </p:spPr>
        <p:txBody>
          <a:bodyPr>
            <a:normAutofit/>
          </a:bodyPr>
          <a:lstStyle/>
          <a:p>
            <a:pPr marL="0" indent="0">
              <a:buNone/>
            </a:pPr>
            <a:r>
              <a:rPr lang="ru-RU" sz="1400" dirty="0">
                <a:latin typeface="Times New Roman" panose="02020603050405020304" pitchFamily="18" charset="0"/>
                <a:cs typeface="Times New Roman" panose="02020603050405020304" pitchFamily="18" charset="0"/>
              </a:rPr>
              <a:t>Итоговое содержание практики:</a:t>
            </a:r>
          </a:p>
          <a:p>
            <a:r>
              <a:rPr lang="ru-RU" sz="1400" dirty="0">
                <a:latin typeface="Times New Roman" panose="02020603050405020304" pitchFamily="18" charset="0"/>
                <a:cs typeface="Times New Roman" panose="02020603050405020304" pitchFamily="18" charset="0"/>
              </a:rPr>
              <a:t>Отчет по производственной практике</a:t>
            </a:r>
          </a:p>
          <a:p>
            <a:r>
              <a:rPr lang="ru-RU" sz="1400" dirty="0">
                <a:latin typeface="Times New Roman" panose="02020603050405020304" pitchFamily="18" charset="0"/>
                <a:cs typeface="Times New Roman" panose="02020603050405020304" pitchFamily="18" charset="0"/>
              </a:rPr>
              <a:t>Аттестационный лист</a:t>
            </a:r>
          </a:p>
          <a:p>
            <a:r>
              <a:rPr lang="ru-RU" sz="1400" dirty="0">
                <a:latin typeface="Times New Roman" panose="02020603050405020304" pitchFamily="18" charset="0"/>
                <a:cs typeface="Times New Roman" panose="02020603050405020304" pitchFamily="18" charset="0"/>
              </a:rPr>
              <a:t>Дневник по практике</a:t>
            </a:r>
          </a:p>
          <a:p>
            <a:r>
              <a:rPr lang="ru-RU" sz="1400" dirty="0">
                <a:latin typeface="Times New Roman" panose="02020603050405020304" pitchFamily="18" charset="0"/>
                <a:cs typeface="Times New Roman" panose="02020603050405020304" pitchFamily="18" charset="0"/>
              </a:rPr>
              <a:t>Презентация</a:t>
            </a:r>
          </a:p>
          <a:p>
            <a:pPr marL="0" indent="0">
              <a:buNone/>
            </a:pPr>
            <a:endParaRPr lang="ru-RU" dirty="0">
              <a:latin typeface="Times New Roman" panose="02020603050405020304" pitchFamily="18" charset="0"/>
              <a:cs typeface="Times New Roman" panose="02020603050405020304" pitchFamily="18" charset="0"/>
            </a:endParaRPr>
          </a:p>
        </p:txBody>
      </p:sp>
      <p:sp>
        <p:nvSpPr>
          <p:cNvPr id="6" name="Объект 2">
            <a:extLst>
              <a:ext uri="{FF2B5EF4-FFF2-40B4-BE49-F238E27FC236}">
                <a16:creationId xmlns:a16="http://schemas.microsoft.com/office/drawing/2014/main" id="{3CA99C66-FF34-CD29-4026-42FE9A8CAA53}"/>
              </a:ext>
            </a:extLst>
          </p:cNvPr>
          <p:cNvSpPr txBox="1">
            <a:spLocks/>
          </p:cNvSpPr>
          <p:nvPr/>
        </p:nvSpPr>
        <p:spPr>
          <a:xfrm>
            <a:off x="1725096" y="1540189"/>
            <a:ext cx="4575159"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ru-RU" dirty="0">
                <a:latin typeface="Times New Roman" panose="02020603050405020304" pitchFamily="18" charset="0"/>
                <a:cs typeface="Times New Roman" panose="02020603050405020304" pitchFamily="18" charset="0"/>
              </a:rPr>
              <a:t>Содержание </a:t>
            </a:r>
            <a:r>
              <a:rPr lang="ru-RU" dirty="0" err="1">
                <a:latin typeface="Times New Roman" panose="02020603050405020304" pitchFamily="18" charset="0"/>
                <a:cs typeface="Times New Roman" panose="02020603050405020304" pitchFamily="18" charset="0"/>
              </a:rPr>
              <a:t>Git</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repository</a:t>
            </a:r>
            <a:r>
              <a:rPr lang="ru-RU" dirty="0">
                <a:latin typeface="Times New Roman" panose="02020603050405020304" pitchFamily="18" charset="0"/>
                <a:cs typeface="Times New Roman" panose="02020603050405020304" pitchFamily="18" charset="0"/>
              </a:rPr>
              <a:t>:</a:t>
            </a:r>
          </a:p>
          <a:p>
            <a:r>
              <a:rPr lang="ru-RU" dirty="0">
                <a:latin typeface="Times New Roman" panose="02020603050405020304" pitchFamily="18" charset="0"/>
                <a:cs typeface="Times New Roman" panose="02020603050405020304" pitchFamily="18" charset="0"/>
              </a:rPr>
              <a:t>Скрипт БД (с данными)</a:t>
            </a:r>
          </a:p>
          <a:p>
            <a:r>
              <a:rPr lang="ru-RU" dirty="0">
                <a:latin typeface="Times New Roman" panose="02020603050405020304" pitchFamily="18" charset="0"/>
                <a:cs typeface="Times New Roman" panose="02020603050405020304" pitchFamily="18" charset="0"/>
              </a:rPr>
              <a:t>UML</a:t>
            </a:r>
          </a:p>
          <a:p>
            <a:r>
              <a:rPr lang="ru-RU" dirty="0">
                <a:latin typeface="Times New Roman" panose="02020603050405020304" pitchFamily="18" charset="0"/>
                <a:cs typeface="Times New Roman" panose="02020603050405020304" pitchFamily="18" charset="0"/>
              </a:rPr>
              <a:t>ERD</a:t>
            </a:r>
          </a:p>
          <a:p>
            <a:r>
              <a:rPr lang="ru-RU" dirty="0">
                <a:latin typeface="Times New Roman" panose="02020603050405020304" pitchFamily="18" charset="0"/>
                <a:cs typeface="Times New Roman" panose="02020603050405020304" pitchFamily="18" charset="0"/>
              </a:rPr>
              <a:t>Программный модуль</a:t>
            </a:r>
          </a:p>
        </p:txBody>
      </p:sp>
      <p:pic>
        <p:nvPicPr>
          <p:cNvPr id="5" name="Рисунок 4">
            <a:extLst>
              <a:ext uri="{FF2B5EF4-FFF2-40B4-BE49-F238E27FC236}">
                <a16:creationId xmlns:a16="http://schemas.microsoft.com/office/drawing/2014/main" id="{E2FC54CC-1A83-06F3-8A51-24DAF5233317}"/>
              </a:ext>
            </a:extLst>
          </p:cNvPr>
          <p:cNvPicPr>
            <a:picLocks noChangeAspect="1"/>
          </p:cNvPicPr>
          <p:nvPr/>
        </p:nvPicPr>
        <p:blipFill>
          <a:blip r:embed="rId2"/>
          <a:stretch>
            <a:fillRect/>
          </a:stretch>
        </p:blipFill>
        <p:spPr>
          <a:xfrm>
            <a:off x="4880504" y="4710485"/>
            <a:ext cx="4224366" cy="1326371"/>
          </a:xfrm>
          <a:prstGeom prst="rect">
            <a:avLst/>
          </a:prstGeom>
        </p:spPr>
      </p:pic>
      <p:pic>
        <p:nvPicPr>
          <p:cNvPr id="9" name="Рисунок 8">
            <a:extLst>
              <a:ext uri="{FF2B5EF4-FFF2-40B4-BE49-F238E27FC236}">
                <a16:creationId xmlns:a16="http://schemas.microsoft.com/office/drawing/2014/main" id="{BEC5265D-AD59-EAE7-2C98-5A3977B7BA6D}"/>
              </a:ext>
            </a:extLst>
          </p:cNvPr>
          <p:cNvPicPr>
            <a:picLocks noChangeAspect="1"/>
          </p:cNvPicPr>
          <p:nvPr/>
        </p:nvPicPr>
        <p:blipFill>
          <a:blip r:embed="rId3"/>
          <a:stretch>
            <a:fillRect/>
          </a:stretch>
        </p:blipFill>
        <p:spPr>
          <a:xfrm>
            <a:off x="9431318" y="281871"/>
            <a:ext cx="2612794" cy="3642655"/>
          </a:xfrm>
          <a:prstGeom prst="rect">
            <a:avLst/>
          </a:prstGeom>
          <a:ln>
            <a:noFill/>
          </a:ln>
          <a:effectLst>
            <a:outerShdw blurRad="292100" dist="139700" dir="2700000" algn="tl" rotWithShape="0">
              <a:srgbClr val="333333">
                <a:alpha val="65000"/>
              </a:srgbClr>
            </a:outerShdw>
          </a:effectLst>
        </p:spPr>
      </p:pic>
      <p:pic>
        <p:nvPicPr>
          <p:cNvPr id="14" name="Рисунок 13">
            <a:extLst>
              <a:ext uri="{FF2B5EF4-FFF2-40B4-BE49-F238E27FC236}">
                <a16:creationId xmlns:a16="http://schemas.microsoft.com/office/drawing/2014/main" id="{F73AD41E-CB11-F3BE-1587-0057869EAC6C}"/>
              </a:ext>
            </a:extLst>
          </p:cNvPr>
          <p:cNvPicPr>
            <a:picLocks noChangeAspect="1"/>
          </p:cNvPicPr>
          <p:nvPr/>
        </p:nvPicPr>
        <p:blipFill>
          <a:blip r:embed="rId4"/>
          <a:stretch>
            <a:fillRect/>
          </a:stretch>
        </p:blipFill>
        <p:spPr>
          <a:xfrm>
            <a:off x="8172746" y="243613"/>
            <a:ext cx="2565833" cy="3777623"/>
          </a:xfrm>
          <a:prstGeom prst="rect">
            <a:avLst/>
          </a:prstGeom>
          <a:ln>
            <a:noFill/>
          </a:ln>
          <a:effectLst>
            <a:outerShdw blurRad="292100" dist="139700" dir="2700000" algn="tl" rotWithShape="0">
              <a:srgbClr val="333333">
                <a:alpha val="65000"/>
              </a:srgbClr>
            </a:outerShdw>
          </a:effectLst>
        </p:spPr>
      </p:pic>
      <p:pic>
        <p:nvPicPr>
          <p:cNvPr id="16" name="Рисунок 15">
            <a:extLst>
              <a:ext uri="{FF2B5EF4-FFF2-40B4-BE49-F238E27FC236}">
                <a16:creationId xmlns:a16="http://schemas.microsoft.com/office/drawing/2014/main" id="{FA8235BC-222F-3097-BC49-78269681BFDC}"/>
              </a:ext>
            </a:extLst>
          </p:cNvPr>
          <p:cNvPicPr>
            <a:picLocks noChangeAspect="1"/>
          </p:cNvPicPr>
          <p:nvPr/>
        </p:nvPicPr>
        <p:blipFill>
          <a:blip r:embed="rId5"/>
          <a:stretch>
            <a:fillRect/>
          </a:stretch>
        </p:blipFill>
        <p:spPr>
          <a:xfrm>
            <a:off x="9379076" y="2502276"/>
            <a:ext cx="2665036" cy="377762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2123547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CD0026A-DACF-76D3-35F5-B474B48EDE4C}"/>
              </a:ext>
            </a:extLst>
          </p:cNvPr>
          <p:cNvSpPr>
            <a:spLocks noGrp="1"/>
          </p:cNvSpPr>
          <p:nvPr>
            <p:ph type="title"/>
          </p:nvPr>
        </p:nvSpPr>
        <p:spPr/>
        <p:txBody>
          <a:bodyPr/>
          <a:lstStyle/>
          <a:p>
            <a:r>
              <a:rPr lang="ru-RU" dirty="0">
                <a:latin typeface="Times New Roman" panose="02020603050405020304" pitchFamily="18" charset="0"/>
                <a:cs typeface="Times New Roman" panose="02020603050405020304" pitchFamily="18" charset="0"/>
              </a:rPr>
              <a:t>Заключение</a:t>
            </a:r>
          </a:p>
        </p:txBody>
      </p:sp>
      <p:sp>
        <p:nvSpPr>
          <p:cNvPr id="3" name="Объект 2">
            <a:extLst>
              <a:ext uri="{FF2B5EF4-FFF2-40B4-BE49-F238E27FC236}">
                <a16:creationId xmlns:a16="http://schemas.microsoft.com/office/drawing/2014/main" id="{0581458E-2636-3413-AE3F-7751A54CD99D}"/>
              </a:ext>
            </a:extLst>
          </p:cNvPr>
          <p:cNvSpPr>
            <a:spLocks noGrp="1"/>
          </p:cNvSpPr>
          <p:nvPr>
            <p:ph idx="1"/>
          </p:nvPr>
        </p:nvSpPr>
        <p:spPr/>
        <p:txBody>
          <a:bodyPr>
            <a:normAutofit/>
          </a:bodyPr>
          <a:lstStyle/>
          <a:p>
            <a:r>
              <a:rPr lang="ru-RU" sz="2000" dirty="0">
                <a:latin typeface="Times New Roman" panose="02020603050405020304" pitchFamily="18" charset="0"/>
                <a:cs typeface="Times New Roman" panose="02020603050405020304" pitchFamily="18" charset="0"/>
              </a:rPr>
              <a:t>В ходе выполнения производственной практики разработана полнофункциональная информационная система для учёта картриджей принтера. На этапе проектирования проведён анализ предметной области, выделены основные сущности (картридж, модель, отделение, статус, тип операции, история движения, пользователь) и их атрибуты, построена ER-диаграмма.</a:t>
            </a:r>
            <a:endParaRPr lang="ru-RU"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6497954"/>
      </p:ext>
    </p:extLst>
  </p:cSld>
  <p:clrMapOvr>
    <a:masterClrMapping/>
  </p:clrMapOvr>
</p:sld>
</file>

<file path=ppt/theme/theme1.xml><?xml version="1.0" encoding="utf-8"?>
<a:theme xmlns:a="http://schemas.openxmlformats.org/drawingml/2006/main" name="Легкий дым">
  <a:themeElements>
    <a:clrScheme name="Легкий дым">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Легкий дым">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Легкий дым">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1498</TotalTime>
  <Words>471</Words>
  <Application>Microsoft Office PowerPoint</Application>
  <PresentationFormat>Широкоэкранный</PresentationFormat>
  <Paragraphs>86</Paragraphs>
  <Slides>13</Slides>
  <Notes>4</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13</vt:i4>
      </vt:variant>
    </vt:vector>
  </HeadingPairs>
  <TitlesOfParts>
    <vt:vector size="19" baseType="lpstr">
      <vt:lpstr>Arial</vt:lpstr>
      <vt:lpstr>Calibri</vt:lpstr>
      <vt:lpstr>Century Gothic</vt:lpstr>
      <vt:lpstr>Times New Roman</vt:lpstr>
      <vt:lpstr>Wingdings 3</vt:lpstr>
      <vt:lpstr>Легкий дым</vt:lpstr>
      <vt:lpstr>ОТЧЕТ   по производственной практике ПМ.11. Разработка, администрирование и защита баз данных Тема: «Разработка базы данных «Учёт картриджей для принтера» </vt:lpstr>
      <vt:lpstr>Цель</vt:lpstr>
      <vt:lpstr>Анализ бизнес-процессов</vt:lpstr>
      <vt:lpstr>ВЫПОЛНЕНИЕ АНАЛИЗА И ПРЕДВАРИТЕЛЬНОЙ ОБРАБОТКИ ИНФОРМАЦИИ</vt:lpstr>
      <vt:lpstr>ВЫДЕЛЕНИЕ ОБЪЕКТОВ И АТРИБУТОВ В СООТВЕТСТВИИ С ЗАДАНИЕМ</vt:lpstr>
      <vt:lpstr>ПРОЕКТИРОВАНИЕ И НОРМАЛИЗАЦИЯ БД В ПОЛНОМ СООТВЕТСТВИИ С ПОСТАВЛЕННОЙ ЗАДАЧЕЙ И ПРИМЕНЕНИЕМ CASE-СРЕДСТВ</vt:lpstr>
      <vt:lpstr>ВЫПОЛНЕНИЕ ПОСТРОЕНИЯ БД В ПРЕДЛОЖЕННОЙ СУБД И  ЗАПОЛНЕНИЕ ВСЕХ ТАБЛИЦ С ПОМОЩЬЮ  СООТВЕТСТВУЮЩИХ СРЕДСТВ  </vt:lpstr>
      <vt:lpstr>РЕАЛИЗАЦИЯ УРОВНЕЙ ДОСТУПА ДЛЯ РАЗЛИЧНЫХ КАТЕГОРИЙ ПОЛЬЗОВАТЕЛЕЙ</vt:lpstr>
      <vt:lpstr>СОЗДАНИЕ ЗАПРОСОВ И ОТЧЁТОВ В СООТВЕТСТВИИ С ЗАДАНИЕМ</vt:lpstr>
      <vt:lpstr>СОЗДАНИЕ И ОБОСНОВАНИЕ ГРУПП ПОЛЬЗОВАТЕЛЕЙ И ПРИНЦИПОВ РЕГИСТРАЦИИ И СИСТЕМЫ ПАРОЛЕЙ</vt:lpstr>
      <vt:lpstr>ВОССТАНОВЛЕНИЕ РЕЗЕРВНОГО КОПИРОВАНИЯ БД И ВОССТАНОВЛЕНИЕ СОСТОЯНИЯ БД  НА ЗАДАННУЮ ДАТУ</vt:lpstr>
      <vt:lpstr>СОЗДАНИЕ И ОБОСНОВАНИЕ ГРУПП ПОЛЬЗОВАТЕЛЕЙ И ПРИНЦИПОВ РЕГИСТРАЦИИ И СИСТЕМЫ ПАРОЛЕЙ</vt:lpstr>
      <vt:lpstr>Заключение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Sgushello LI</dc:creator>
  <cp:lastModifiedBy>Анатолий Красноперов</cp:lastModifiedBy>
  <cp:revision>18</cp:revision>
  <dcterms:created xsi:type="dcterms:W3CDTF">2026-04-20T16:01:16Z</dcterms:created>
  <dcterms:modified xsi:type="dcterms:W3CDTF">2026-05-25T16:23:28Z</dcterms:modified>
</cp:coreProperties>
</file>